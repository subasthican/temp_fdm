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Mean CV ROC-AUC</c:v>
                </c:pt>
              </c:strCache>
            </c:strRef>
          </c:tx>
          <c:spPr>
            <a:solidFill>
              <a:srgbClr val="19806B"/>
            </a:solidFill>
          </c:spPr>
          <c:cat>
            <c:strRef>
              <c:f>Sheet1!$A$2:$A$5</c:f>
              <c:strCache>
                <c:ptCount val="4"/>
                <c:pt idx="0">
                  <c:v>Logistic Regression</c:v>
                </c:pt>
                <c:pt idx="1">
                  <c:v>Decision Tree</c:v>
                </c:pt>
                <c:pt idx="2">
                  <c:v>Random Forest</c:v>
                </c:pt>
                <c:pt idx="3">
                  <c:v>Extra Trees</c:v>
                </c:pt>
              </c:strCache>
            </c:strRef>
          </c:cat>
          <c:val>
            <c:numRef>
              <c:f>Sheet1!$B$2:$B$5</c:f>
              <c:numCache>
                <c:formatCode>General</c:formatCode>
                <c:ptCount val="4"/>
                <c:pt idx="0">
                  <c:v>0.864</c:v>
                </c:pt>
                <c:pt idx="1">
                  <c:v>0.8476</c:v>
                </c:pt>
                <c:pt idx="2">
                  <c:v>0.9097</c:v>
                </c:pt>
                <c:pt idx="3">
                  <c:v>0.9058</c:v>
                </c:pt>
              </c:numCache>
            </c:numRef>
          </c:val>
        </c:ser>
        <c:dLbls>
          <c:numFmt formatCode="0.0000" sourceLinked="0"/>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1.0"/>
          <c:min val="0.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PE2 is an individual evaluation worth 30%, focused on official Stages 6 and 7. This deck supports the viva; every member must understand the complete workflow.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cancellation risk estimate as decision support. Do not claim measured financial savings or guaranteed outcomes. Explain the difference between the modelling evaluation and the final business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removing duplicates changes the class balance. Children use zero, country Unknown, and missing agent/company zero; identifiers become categorical strings for modelling. ADR outliers were investigated but not clipped. Source: Mostipak Kaggle distribution and Antonio et al. (2019).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labels: 12,675 kept and 4,805 canceled. Cross-validation alternates training and validation folds; the separate test set is not a tuning input. Numeric median imputation and StandardScaler; categorical imputation and one-hot encoding with infrequent-category grouping at min_frequency=50. Stratification preserves class proportions. Random splitting does not prove future-period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member explains the algorithm allocated in the team guide. Ensembles can capture interactions; their empirical advantage is supported by validation, while precise causal reasons for a score difference are not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Positive class is cancellation. Precision = TP/(TP+FP); recall = TP/(TP+FN); F1 is their harmonic mean. Balanced accuracy averages class recalls. Average precision summarizes the precision-recall curve. ROC-AUC is not accuracy, and a high AUC does not establish calibrated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are three-fold training CV means, rounded to four decimals. Random Forest ranks first by ROC-AUC; Decision Tree has greater recall than baseline Forest but lower precision and AUC. This illustrates why the selection metric must be stated before comparing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horizontal axis starts at zero. Baseline train minus validation AUC gaps are LR .0027, DT .1144, RF .0762, ET .0811. A larger gap suggests overfitting, but does not alone decide the winner. Fold AUC standard deviations are .0026, .0025, .0015 and .0017 respectively; these are not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parameter space has 24 combinations, but only four were sampled with seed 42. Do not call this exhaustive search. Depth and minimum leaf size control complexity. n_jobs=-1 inside Forest and search n_jobs=1 avoid nested parallelism. The limited budget is a limitation.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Balanced class weights alter the training loss inversely to class frequency; they are not oversampling or SMOTE. Same folds and scoring as Forest. A small improvement is observed; no statistical significance claim is supported.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 all six candidates by training CV AUC. Clone the top candidate and refit on all training rows before testing. The choice follows the declared criterion rather than test-set comparison. The tuning estimates themselves may be optimistic because the same CV supports parameter selection.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all four derived columns using fixed selected Forest settings and the same folds. It does not retune both representations. The tiny difference is not evidence of significant harm or benefit. Deployment preparation must reproduce the retained feature rules exactly.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recorded full-data held-out metrics, not reduced smoke-test scores. Test evaluation follows selection. Threshold 0.5. Accuracy exceeds the all-kept baseline by about 12.57 percentage points, but recall and precision expose important errors. Saved artifact could not be independently loaded during deck preparation; results were cross-checked against notebook outputs and documented tables.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are actual outcomes and columns are predicted outcomes. TP=3258, FN=1547, FP=1061, TN=11614. Precision 3258/(3258+1061); recall 3258/4805. Missing cancellations affects planning; false alerts require unnecessary follow-up. Decisions remain with staff.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prediction-time leakage beyond explicitly removed status fields. A field can be valid for late-stage assessment yet unavailable when the booking is first made. Fairness/subgroup performance and current-hotel impact remain unmeasured. These are proposed experiments, not completed results.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study/speaking allocation, not proof of original authorship. Confirm actual personal contributions and identify exact notebook cells. Suggested core speaking allocation: approximately four minutes each, adjusted to the evaluator’s format. Everyone must be ready to explain the full workflow.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Kaggle source recorded in the proposal: https://www.kaggle.com/datasets/jessemostipak/hotel-booking-demand. Original publication: https://doi.org/10.1016/j.dib.2018.11.126. This deck uses local project evidence, not a new training run. Backup viva questions: Why AUC? Why stratification? Why a pipeline? Does engineering improve the model? Why not choose on test accuracy?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Hotel booking cancellation prediction</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Model development, optimization and final selection</a:t>
            </a:r>
          </a:p>
          <a:p>
            <a:pPr>
              <a:spcAft>
                <a:spcPts val="1400"/>
              </a:spcAft>
              <a:defRPr sz="2300" b="0">
                <a:solidFill>
                  <a:srgbClr val="153C36"/>
                </a:solidFill>
                <a:latin typeface="Aptos"/>
              </a:defRPr>
            </a:pPr>
            <a:r>
              <a:t>Supervised binary classification: 0 = kept; 1 = canceled</a:t>
            </a:r>
          </a:p>
          <a:p>
            <a:pPr>
              <a:spcAft>
                <a:spcPts val="1400"/>
              </a:spcAft>
              <a:defRPr sz="2300" b="0">
                <a:solidFill>
                  <a:srgbClr val="153C36"/>
                </a:solidFill>
                <a:latin typeface="Aptos"/>
              </a:defRPr>
            </a:pPr>
            <a:r>
              <a:t>Manoharan Subasthican · IT23810778</a:t>
            </a:r>
          </a:p>
          <a:p>
            <a:pPr>
              <a:spcAft>
                <a:spcPts val="1400"/>
              </a:spcAft>
              <a:defRPr sz="2300" b="0">
                <a:solidFill>
                  <a:srgbClr val="153C36"/>
                </a:solidFill>
                <a:latin typeface="Aptos"/>
              </a:defRPr>
            </a:pPr>
            <a:r>
              <a:t>Kuganesan Kageepan · IT23717572</a:t>
            </a:r>
          </a:p>
          <a:p>
            <a:pPr>
              <a:spcAft>
                <a:spcPts val="1400"/>
              </a:spcAft>
              <a:defRPr sz="2300" b="0">
                <a:solidFill>
                  <a:srgbClr val="153C36"/>
                </a:solidFill>
                <a:latin typeface="Aptos"/>
              </a:defRPr>
            </a:pPr>
            <a:r>
              <a:t>Gowsika Surendran · IT23794566</a:t>
            </a:r>
          </a:p>
          <a:p>
            <a:pPr>
              <a:spcAft>
                <a:spcPts val="1400"/>
              </a:spcAft>
              <a:defRPr sz="2300" b="0">
                <a:solidFill>
                  <a:srgbClr val="153C36"/>
                </a:solidFill>
                <a:latin typeface="Aptos"/>
              </a:defRPr>
            </a:pPr>
            <a:r>
              <a:t>Kokulan Seyon · IT23752672</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Team introduction  |  Official assignment · Stage 8</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The modelling question</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Can booking details distinguish cancellations from kept bookings?</a:t>
            </a:r>
          </a:p>
          <a:p>
            <a:pPr>
              <a:spcAft>
                <a:spcPts val="1400"/>
              </a:spcAft>
              <a:defRPr sz="2300" b="0">
                <a:solidFill>
                  <a:srgbClr val="153C36"/>
                </a:solidFill>
                <a:latin typeface="Aptos"/>
              </a:defRPr>
            </a:pPr>
            <a:r>
              <a:t>Users: reservation staff, hotel managers and operational planners.</a:t>
            </a:r>
          </a:p>
          <a:p>
            <a:pPr>
              <a:spcAft>
                <a:spcPts val="1400"/>
              </a:spcAft>
              <a:defRPr sz="2300" b="0">
                <a:solidFill>
                  <a:srgbClr val="153C36"/>
                </a:solidFill>
                <a:latin typeface="Aptos"/>
              </a:defRPr>
            </a:pPr>
            <a:r>
              <a:t>Compare four algorithms under the same validation conditions.</a:t>
            </a:r>
          </a:p>
          <a:p>
            <a:pPr>
              <a:spcAft>
                <a:spcPts val="1400"/>
              </a:spcAft>
              <a:defRPr sz="2300" b="0">
                <a:solidFill>
                  <a:srgbClr val="153C36"/>
                </a:solidFill>
                <a:latin typeface="Aptos"/>
              </a:defRPr>
            </a:pPr>
            <a:r>
              <a:t>Tune suitable models and justify the final choice using evidence.</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Subasthican  |  Model/new.ipynb · TEAM_VIVA_GUIDE.md</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Data carried forward from Evaluation 1</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119,390 raw bookings → 87,396 after removing 31,994 duplicates.</a:t>
            </a:r>
          </a:p>
          <a:p>
            <a:pPr>
              <a:spcAft>
                <a:spcPts val="1400"/>
              </a:spcAft>
              <a:defRPr sz="2300" b="0">
                <a:solidFill>
                  <a:srgbClr val="153C36"/>
                </a:solidFill>
                <a:latin typeface="Aptos"/>
              </a:defRPr>
            </a:pPr>
            <a:r>
              <a:t>Cleaned cancellation rate: 27.49% (raw rate: 37.04%).</a:t>
            </a:r>
          </a:p>
          <a:p>
            <a:pPr>
              <a:spcAft>
                <a:spcPts val="1400"/>
              </a:spcAft>
              <a:defRPr sz="2300" b="0">
                <a:solidFill>
                  <a:srgbClr val="153C36"/>
                </a:solidFill>
                <a:latin typeface="Aptos"/>
              </a:defRPr>
            </a:pPr>
            <a:r>
              <a:t>33 predictors: 21 numeric + 12 categorical.</a:t>
            </a:r>
          </a:p>
          <a:p>
            <a:pPr>
              <a:spcAft>
                <a:spcPts val="1400"/>
              </a:spcAft>
              <a:defRPr sz="2300" b="0">
                <a:solidFill>
                  <a:srgbClr val="153C36"/>
                </a:solidFill>
                <a:latin typeface="Aptos"/>
              </a:defRPr>
            </a:pPr>
            <a:r>
              <a:t>Outcome fields removed: reservation_status and reservation_status_date.</a:t>
            </a:r>
          </a:p>
          <a:p>
            <a:pPr>
              <a:spcAft>
                <a:spcPts val="1400"/>
              </a:spcAft>
              <a:defRPr sz="2300" b="0">
                <a:solidFill>
                  <a:srgbClr val="153C36"/>
                </a:solidFill>
                <a:latin typeface="Aptos"/>
              </a:defRPr>
            </a:pPr>
            <a:r>
              <a:t>Source period: July 2015–August 2017; two hotels.</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Gowsika  |  Model/new.ipynb · TEAM_VIVA_GUIDE.md</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Validation protects the test set</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Stratified 80/20 split, random seed 42.</a:t>
            </a:r>
          </a:p>
          <a:p>
            <a:pPr>
              <a:spcAft>
                <a:spcPts val="1400"/>
              </a:spcAft>
              <a:defRPr sz="2300" b="0">
                <a:solidFill>
                  <a:srgbClr val="153C36"/>
                </a:solidFill>
                <a:latin typeface="Aptos"/>
              </a:defRPr>
            </a:pPr>
            <a:r>
              <a:t>Training: 69,916 rows | Test: 17,480 rows.</a:t>
            </a:r>
          </a:p>
          <a:p>
            <a:pPr>
              <a:spcAft>
                <a:spcPts val="1400"/>
              </a:spcAft>
              <a:defRPr sz="2300" b="0">
                <a:solidFill>
                  <a:srgbClr val="153C36"/>
                </a:solidFill>
                <a:latin typeface="Aptos"/>
              </a:defRPr>
            </a:pPr>
            <a:r>
              <a:t>Three shuffled stratified folds within the training partition.</a:t>
            </a:r>
          </a:p>
          <a:p>
            <a:pPr>
              <a:spcAft>
                <a:spcPts val="1400"/>
              </a:spcAft>
              <a:defRPr sz="2300" b="0">
                <a:solidFill>
                  <a:srgbClr val="153C36"/>
                </a:solidFill>
                <a:latin typeface="Aptos"/>
              </a:defRPr>
            </a:pPr>
            <a:r>
              <a:t>Each fold fits its own preprocessing and classifier pipeline.</a:t>
            </a:r>
          </a:p>
          <a:p>
            <a:pPr>
              <a:spcAft>
                <a:spcPts val="1400"/>
              </a:spcAft>
              <a:defRPr sz="2300" b="0">
                <a:solidFill>
                  <a:srgbClr val="153C36"/>
                </a:solidFill>
                <a:latin typeface="Aptos"/>
              </a:defRPr>
            </a:pPr>
            <a:r>
              <a:t>Select by training CV ROC-AUC → refit → evaluate on test.</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Seyon  |  Model/new.ipynb · TEAM_VIVA_GUIDE.md</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Four algorithms, four useful comparisons</a:t>
            </a:r>
          </a:p>
        </p:txBody>
      </p:sp>
      <p:sp>
        <p:nvSpPr>
          <p:cNvPr id="4" name="TextBox 3"/>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All members  |  Model/new.ipynb · TEAM_VIVA_GUIDE.md</a:t>
            </a:r>
          </a:p>
        </p:txBody>
      </p:sp>
      <p:sp>
        <p:nvSpPr>
          <p:cNvPr id="5" name="TextBox 4"/>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05</a:t>
            </a:r>
          </a:p>
        </p:txBody>
      </p:sp>
      <p:graphicFrame>
        <p:nvGraphicFramePr>
          <p:cNvPr id="6" name="Table 5"/>
          <p:cNvGraphicFramePr>
            <a:graphicFrameLocks noGrp="1"/>
          </p:cNvGraphicFramePr>
          <p:nvPr/>
        </p:nvGraphicFramePr>
        <p:xfrm>
          <a:off x="731520" y="2148840"/>
          <a:ext cx="10744200" cy="2560320"/>
        </p:xfrm>
        <a:graphic>
          <a:graphicData uri="http://schemas.openxmlformats.org/drawingml/2006/table">
            <a:tbl>
              <a:tblPr firstRow="1" bandRow="1">
                <a:tableStyleId>{5C22544A-7EE6-4342-B048-85BDC9FD1C3A}</a:tableStyleId>
              </a:tblPr>
              <a:tblGrid>
                <a:gridCol w="2468880"/>
                <a:gridCol w="4114800"/>
                <a:gridCol w="4160520"/>
              </a:tblGrid>
              <a:tr h="512064">
                <a:tc>
                  <a:txBody>
                    <a:bodyPr/>
                    <a:lstStyle/>
                    <a:p>
                      <a:pPr>
                        <a:defRPr sz="1800" b="1">
                          <a:solidFill>
                            <a:srgbClr val="FFFFFF"/>
                          </a:solidFill>
                          <a:latin typeface="Aptos"/>
                        </a:defRPr>
                      </a:pPr>
                      <a:r>
                        <a:t>Algorithm</a:t>
                      </a:r>
                    </a:p>
                  </a:txBody>
                  <a:tcPr>
                    <a:solidFill>
                      <a:srgbClr val="153C36"/>
                    </a:solidFill>
                  </a:tcPr>
                </a:tc>
                <a:tc>
                  <a:txBody>
                    <a:bodyPr/>
                    <a:lstStyle/>
                    <a:p>
                      <a:pPr>
                        <a:defRPr sz="1800" b="1">
                          <a:solidFill>
                            <a:srgbClr val="FFFFFF"/>
                          </a:solidFill>
                          <a:latin typeface="Aptos"/>
                        </a:defRPr>
                      </a:pPr>
                      <a:r>
                        <a:t>Why compare it?</a:t>
                      </a:r>
                    </a:p>
                  </a:txBody>
                  <a:tcPr>
                    <a:solidFill>
                      <a:srgbClr val="153C36"/>
                    </a:solidFill>
                  </a:tcPr>
                </a:tc>
                <a:tc>
                  <a:txBody>
                    <a:bodyPr/>
                    <a:lstStyle/>
                    <a:p>
                      <a:pPr>
                        <a:defRPr sz="1800" b="1">
                          <a:solidFill>
                            <a:srgbClr val="FFFFFF"/>
                          </a:solidFill>
                          <a:latin typeface="Aptos"/>
                        </a:defRPr>
                      </a:pPr>
                      <a:r>
                        <a:t>Baseline settings</a:t>
                      </a:r>
                    </a:p>
                  </a:txBody>
                  <a:tcPr>
                    <a:solidFill>
                      <a:srgbClr val="153C36"/>
                    </a:solidFill>
                  </a:tcPr>
                </a:tc>
              </a:tr>
              <a:tr h="512064">
                <a:tc>
                  <a:txBody>
                    <a:bodyPr/>
                    <a:lstStyle/>
                    <a:p>
                      <a:pPr>
                        <a:defRPr sz="1800" b="0">
                          <a:solidFill>
                            <a:srgbClr val="153C36"/>
                          </a:solidFill>
                          <a:latin typeface="Aptos"/>
                        </a:defRPr>
                      </a:pPr>
                      <a:r>
                        <a:t>Logistic Regression</a:t>
                      </a:r>
                    </a:p>
                  </a:txBody>
                  <a:tcPr>
                    <a:solidFill>
                      <a:srgbClr val="E2EEE8"/>
                    </a:solidFill>
                  </a:tcPr>
                </a:tc>
                <a:tc>
                  <a:txBody>
                    <a:bodyPr/>
                    <a:lstStyle/>
                    <a:p>
                      <a:pPr>
                        <a:defRPr sz="1800" b="0">
                          <a:solidFill>
                            <a:srgbClr val="153C36"/>
                          </a:solidFill>
                          <a:latin typeface="Aptos"/>
                        </a:defRPr>
                      </a:pPr>
                      <a:r>
                        <a:t>Linear probability baseline</a:t>
                      </a:r>
                    </a:p>
                  </a:txBody>
                  <a:tcPr>
                    <a:solidFill>
                      <a:srgbClr val="E2EEE8"/>
                    </a:solidFill>
                  </a:tcPr>
                </a:tc>
                <a:tc>
                  <a:txBody>
                    <a:bodyPr/>
                    <a:lstStyle/>
                    <a:p>
                      <a:pPr>
                        <a:defRPr sz="1800" b="0">
                          <a:solidFill>
                            <a:srgbClr val="153C36"/>
                          </a:solidFill>
                          <a:latin typeface="Aptos"/>
                        </a:defRPr>
                      </a:pPr>
                      <a:r>
                        <a:t>max_iter = 1000</a:t>
                      </a:r>
                    </a:p>
                  </a:txBody>
                  <a:tcPr>
                    <a:solidFill>
                      <a:srgbClr val="E2EEE8"/>
                    </a:solidFill>
                  </a:tcPr>
                </a:tc>
              </a:tr>
              <a:tr h="512064">
                <a:tc>
                  <a:txBody>
                    <a:bodyPr/>
                    <a:lstStyle/>
                    <a:p>
                      <a:pPr>
                        <a:defRPr sz="1800" b="0">
                          <a:solidFill>
                            <a:srgbClr val="153C36"/>
                          </a:solidFill>
                          <a:latin typeface="Aptos"/>
                        </a:defRPr>
                      </a:pPr>
                      <a:r>
                        <a:t>Decision Tree</a:t>
                      </a:r>
                    </a:p>
                  </a:txBody>
                  <a:tcPr>
                    <a:solidFill>
                      <a:srgbClr val="FFFFFF"/>
                    </a:solidFill>
                  </a:tcPr>
                </a:tc>
                <a:tc>
                  <a:txBody>
                    <a:bodyPr/>
                    <a:lstStyle/>
                    <a:p>
                      <a:pPr>
                        <a:defRPr sz="1800" b="0">
                          <a:solidFill>
                            <a:srgbClr val="153C36"/>
                          </a:solidFill>
                          <a:latin typeface="Aptos"/>
                        </a:defRPr>
                      </a:pPr>
                      <a:r>
                        <a:t>Nonlinear decision rules</a:t>
                      </a:r>
                    </a:p>
                  </a:txBody>
                  <a:tcPr>
                    <a:solidFill>
                      <a:srgbClr val="FFFFFF"/>
                    </a:solidFill>
                  </a:tcPr>
                </a:tc>
                <a:tc>
                  <a:txBody>
                    <a:bodyPr/>
                    <a:lstStyle/>
                    <a:p>
                      <a:pPr>
                        <a:defRPr sz="1800" b="0">
                          <a:solidFill>
                            <a:srgbClr val="153C36"/>
                          </a:solidFill>
                          <a:latin typeface="Aptos"/>
                        </a:defRPr>
                      </a:pPr>
                      <a:r>
                        <a:t>depth = 20; leaf ≥ 5</a:t>
                      </a:r>
                    </a:p>
                  </a:txBody>
                  <a:tcPr>
                    <a:solidFill>
                      <a:srgbClr val="FFFFFF"/>
                    </a:solidFill>
                  </a:tcPr>
                </a:tc>
              </a:tr>
              <a:tr h="512064">
                <a:tc>
                  <a:txBody>
                    <a:bodyPr/>
                    <a:lstStyle/>
                    <a:p>
                      <a:pPr>
                        <a:defRPr sz="1800" b="0">
                          <a:solidFill>
                            <a:srgbClr val="153C36"/>
                          </a:solidFill>
                          <a:latin typeface="Aptos"/>
                        </a:defRPr>
                      </a:pPr>
                      <a:r>
                        <a:t>Random Forest</a:t>
                      </a:r>
                    </a:p>
                  </a:txBody>
                  <a:tcPr>
                    <a:solidFill>
                      <a:srgbClr val="E2EEE8"/>
                    </a:solidFill>
                  </a:tcPr>
                </a:tc>
                <a:tc>
                  <a:txBody>
                    <a:bodyPr/>
                    <a:lstStyle/>
                    <a:p>
                      <a:pPr>
                        <a:defRPr sz="1800" b="0">
                          <a:solidFill>
                            <a:srgbClr val="153C36"/>
                          </a:solidFill>
                          <a:latin typeface="Aptos"/>
                        </a:defRPr>
                      </a:pPr>
                      <a:r>
                        <a:t>Average many fitted trees</a:t>
                      </a:r>
                    </a:p>
                  </a:txBody>
                  <a:tcPr>
                    <a:solidFill>
                      <a:srgbClr val="E2EEE8"/>
                    </a:solidFill>
                  </a:tcPr>
                </a:tc>
                <a:tc>
                  <a:txBody>
                    <a:bodyPr/>
                    <a:lstStyle/>
                    <a:p>
                      <a:pPr>
                        <a:defRPr sz="1800" b="0">
                          <a:solidFill>
                            <a:srgbClr val="153C36"/>
                          </a:solidFill>
                          <a:latin typeface="Aptos"/>
                        </a:defRPr>
                      </a:pPr>
                      <a:r>
                        <a:t>120 trees; leaf ≥ 2</a:t>
                      </a:r>
                    </a:p>
                  </a:txBody>
                  <a:tcPr>
                    <a:solidFill>
                      <a:srgbClr val="E2EEE8"/>
                    </a:solidFill>
                  </a:tcPr>
                </a:tc>
              </a:tr>
              <a:tr h="512064">
                <a:tc>
                  <a:txBody>
                    <a:bodyPr/>
                    <a:lstStyle/>
                    <a:p>
                      <a:pPr>
                        <a:defRPr sz="1800" b="0">
                          <a:solidFill>
                            <a:srgbClr val="153C36"/>
                          </a:solidFill>
                          <a:latin typeface="Aptos"/>
                        </a:defRPr>
                      </a:pPr>
                      <a:r>
                        <a:t>Extra Trees</a:t>
                      </a:r>
                    </a:p>
                  </a:txBody>
                  <a:tcPr>
                    <a:solidFill>
                      <a:srgbClr val="FFFFFF"/>
                    </a:solidFill>
                  </a:tcPr>
                </a:tc>
                <a:tc>
                  <a:txBody>
                    <a:bodyPr/>
                    <a:lstStyle/>
                    <a:p>
                      <a:pPr>
                        <a:defRPr sz="1800" b="0">
                          <a:solidFill>
                            <a:srgbClr val="153C36"/>
                          </a:solidFill>
                          <a:latin typeface="Aptos"/>
                        </a:defRPr>
                      </a:pPr>
                      <a:r>
                        <a:t>More randomized tree splits</a:t>
                      </a:r>
                    </a:p>
                  </a:txBody>
                  <a:tcPr>
                    <a:solidFill>
                      <a:srgbClr val="FFFFFF"/>
                    </a:solidFill>
                  </a:tcPr>
                </a:tc>
                <a:tc>
                  <a:txBody>
                    <a:bodyPr/>
                    <a:lstStyle/>
                    <a:p>
                      <a:pPr>
                        <a:defRPr sz="1800" b="0">
                          <a:solidFill>
                            <a:srgbClr val="153C36"/>
                          </a:solidFill>
                          <a:latin typeface="Aptos"/>
                        </a:defRPr>
                      </a:pPr>
                      <a:r>
                        <a:t>120 trees; leaf ≥ 2</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Metrics answer different questions</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ROC-AUC: ranking across thresholds; primary selection metric.</a:t>
            </a:r>
          </a:p>
          <a:p>
            <a:pPr>
              <a:spcAft>
                <a:spcPts val="1400"/>
              </a:spcAft>
              <a:defRPr sz="2300" b="0">
                <a:solidFill>
                  <a:srgbClr val="153C36"/>
                </a:solidFill>
                <a:latin typeface="Aptos"/>
              </a:defRPr>
            </a:pPr>
            <a:r>
              <a:t>Precision: how many cancellation alerts are correct?</a:t>
            </a:r>
          </a:p>
          <a:p>
            <a:pPr>
              <a:spcAft>
                <a:spcPts val="1400"/>
              </a:spcAft>
              <a:defRPr sz="2300" b="0">
                <a:solidFill>
                  <a:srgbClr val="153C36"/>
                </a:solidFill>
                <a:latin typeface="Aptos"/>
              </a:defRPr>
            </a:pPr>
            <a:r>
              <a:t>Recall: how many actual cancellations are found?</a:t>
            </a:r>
          </a:p>
          <a:p>
            <a:pPr>
              <a:spcAft>
                <a:spcPts val="1400"/>
              </a:spcAft>
              <a:defRPr sz="2300" b="0">
                <a:solidFill>
                  <a:srgbClr val="153C36"/>
                </a:solidFill>
                <a:latin typeface="Aptos"/>
              </a:defRPr>
            </a:pPr>
            <a:r>
              <a:t>F1: balance between cancellation precision and recall.</a:t>
            </a:r>
          </a:p>
          <a:p>
            <a:pPr>
              <a:spcAft>
                <a:spcPts val="1400"/>
              </a:spcAft>
              <a:defRPr sz="2300" b="0">
                <a:solidFill>
                  <a:srgbClr val="153C36"/>
                </a:solidFill>
                <a:latin typeface="Aptos"/>
              </a:defRPr>
            </a:pPr>
            <a:r>
              <a:t>Accuracy / balanced accuracy / average precision: supporting views.</a:t>
            </a:r>
          </a:p>
          <a:p>
            <a:pPr>
              <a:spcAft>
                <a:spcPts val="1400"/>
              </a:spcAft>
              <a:defRPr sz="2300" b="0">
                <a:solidFill>
                  <a:srgbClr val="153C36"/>
                </a:solidFill>
                <a:latin typeface="Aptos"/>
              </a:defRPr>
            </a:pPr>
            <a:r>
              <a:t>Always predicting kept gives about 72.51% accuracy.</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Kageepan  |  Model/new.ipynb · TEAM_VIVA_GUIDE.md</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Baseline comparison: same folds and pipeline</a:t>
            </a:r>
          </a:p>
        </p:txBody>
      </p:sp>
      <p:sp>
        <p:nvSpPr>
          <p:cNvPr id="4" name="TextBox 3"/>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Subasthican  |  Model/new.ipynb · TEAM_VIVA_GUIDE.md</a:t>
            </a:r>
          </a:p>
        </p:txBody>
      </p:sp>
      <p:sp>
        <p:nvSpPr>
          <p:cNvPr id="5" name="TextBox 4"/>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07</a:t>
            </a:r>
          </a:p>
        </p:txBody>
      </p:sp>
      <p:graphicFrame>
        <p:nvGraphicFramePr>
          <p:cNvPr id="6" name="Table 5"/>
          <p:cNvGraphicFramePr>
            <a:graphicFrameLocks noGrp="1"/>
          </p:cNvGraphicFramePr>
          <p:nvPr/>
        </p:nvGraphicFramePr>
        <p:xfrm>
          <a:off x="731520" y="2148840"/>
          <a:ext cx="10744200" cy="2560320"/>
        </p:xfrm>
        <a:graphic>
          <a:graphicData uri="http://schemas.openxmlformats.org/drawingml/2006/table">
            <a:tbl>
              <a:tblPr firstRow="1" bandRow="1">
                <a:tableStyleId>{5C22544A-7EE6-4342-B048-85BDC9FD1C3A}</a:tableStyleId>
              </a:tblPr>
              <a:tblGrid>
                <a:gridCol w="2743200"/>
                <a:gridCol w="1600200"/>
                <a:gridCol w="1600200"/>
                <a:gridCol w="1600200"/>
                <a:gridCol w="1600200"/>
                <a:gridCol w="1600200"/>
              </a:tblGrid>
              <a:tr h="512064">
                <a:tc>
                  <a:txBody>
                    <a:bodyPr/>
                    <a:lstStyle/>
                    <a:p>
                      <a:pPr>
                        <a:defRPr sz="1800" b="1">
                          <a:solidFill>
                            <a:srgbClr val="FFFFFF"/>
                          </a:solidFill>
                          <a:latin typeface="Aptos"/>
                        </a:defRPr>
                      </a:pPr>
                      <a:r>
                        <a:t>Model</a:t>
                      </a:r>
                    </a:p>
                  </a:txBody>
                  <a:tcPr>
                    <a:solidFill>
                      <a:srgbClr val="153C36"/>
                    </a:solidFill>
                  </a:tcPr>
                </a:tc>
                <a:tc>
                  <a:txBody>
                    <a:bodyPr/>
                    <a:lstStyle/>
                    <a:p>
                      <a:pPr>
                        <a:defRPr sz="1800" b="1">
                          <a:solidFill>
                            <a:srgbClr val="FFFFFF"/>
                          </a:solidFill>
                          <a:latin typeface="Aptos"/>
                        </a:defRPr>
                      </a:pPr>
                      <a:r>
                        <a:t>ROC-AUC</a:t>
                      </a:r>
                    </a:p>
                  </a:txBody>
                  <a:tcPr>
                    <a:solidFill>
                      <a:srgbClr val="153C36"/>
                    </a:solidFill>
                  </a:tcPr>
                </a:tc>
                <a:tc>
                  <a:txBody>
                    <a:bodyPr/>
                    <a:lstStyle/>
                    <a:p>
                      <a:pPr>
                        <a:defRPr sz="1800" b="1">
                          <a:solidFill>
                            <a:srgbClr val="FFFFFF"/>
                          </a:solidFill>
                          <a:latin typeface="Aptos"/>
                        </a:defRPr>
                      </a:pPr>
                      <a:r>
                        <a:t>Accuracy</a:t>
                      </a:r>
                    </a:p>
                  </a:txBody>
                  <a:tcPr>
                    <a:solidFill>
                      <a:srgbClr val="153C36"/>
                    </a:solidFill>
                  </a:tcPr>
                </a:tc>
                <a:tc>
                  <a:txBody>
                    <a:bodyPr/>
                    <a:lstStyle/>
                    <a:p>
                      <a:pPr>
                        <a:defRPr sz="1800" b="1">
                          <a:solidFill>
                            <a:srgbClr val="FFFFFF"/>
                          </a:solidFill>
                          <a:latin typeface="Aptos"/>
                        </a:defRPr>
                      </a:pPr>
                      <a:r>
                        <a:t>Precision</a:t>
                      </a:r>
                    </a:p>
                  </a:txBody>
                  <a:tcPr>
                    <a:solidFill>
                      <a:srgbClr val="153C36"/>
                    </a:solidFill>
                  </a:tcPr>
                </a:tc>
                <a:tc>
                  <a:txBody>
                    <a:bodyPr/>
                    <a:lstStyle/>
                    <a:p>
                      <a:pPr>
                        <a:defRPr sz="1800" b="1">
                          <a:solidFill>
                            <a:srgbClr val="FFFFFF"/>
                          </a:solidFill>
                          <a:latin typeface="Aptos"/>
                        </a:defRPr>
                      </a:pPr>
                      <a:r>
                        <a:t>Recall</a:t>
                      </a:r>
                    </a:p>
                  </a:txBody>
                  <a:tcPr>
                    <a:solidFill>
                      <a:srgbClr val="153C36"/>
                    </a:solidFill>
                  </a:tcPr>
                </a:tc>
                <a:tc>
                  <a:txBody>
                    <a:bodyPr/>
                    <a:lstStyle/>
                    <a:p>
                      <a:pPr>
                        <a:defRPr sz="1800" b="1">
                          <a:solidFill>
                            <a:srgbClr val="FFFFFF"/>
                          </a:solidFill>
                          <a:latin typeface="Aptos"/>
                        </a:defRPr>
                      </a:pPr>
                      <a:r>
                        <a:t>F1</a:t>
                      </a:r>
                    </a:p>
                  </a:txBody>
                  <a:tcPr>
                    <a:solidFill>
                      <a:srgbClr val="153C36"/>
                    </a:solidFill>
                  </a:tcPr>
                </a:tc>
              </a:tr>
              <a:tr h="512064">
                <a:tc>
                  <a:txBody>
                    <a:bodyPr/>
                    <a:lstStyle/>
                    <a:p>
                      <a:pPr>
                        <a:defRPr sz="1800" b="0">
                          <a:solidFill>
                            <a:srgbClr val="153C36"/>
                          </a:solidFill>
                          <a:latin typeface="Aptos"/>
                        </a:defRPr>
                      </a:pPr>
                      <a:r>
                        <a:t>Random Forest</a:t>
                      </a:r>
                    </a:p>
                  </a:txBody>
                  <a:tcPr>
                    <a:solidFill>
                      <a:srgbClr val="E2EEE8"/>
                    </a:solidFill>
                  </a:tcPr>
                </a:tc>
                <a:tc>
                  <a:txBody>
                    <a:bodyPr/>
                    <a:lstStyle/>
                    <a:p>
                      <a:pPr>
                        <a:defRPr sz="1800" b="0">
                          <a:solidFill>
                            <a:srgbClr val="153C36"/>
                          </a:solidFill>
                          <a:latin typeface="Aptos"/>
                        </a:defRPr>
                      </a:pPr>
                      <a:r>
                        <a:t>.9097</a:t>
                      </a:r>
                    </a:p>
                  </a:txBody>
                  <a:tcPr>
                    <a:solidFill>
                      <a:srgbClr val="E2EEE8"/>
                    </a:solidFill>
                  </a:tcPr>
                </a:tc>
                <a:tc>
                  <a:txBody>
                    <a:bodyPr/>
                    <a:lstStyle/>
                    <a:p>
                      <a:pPr>
                        <a:defRPr sz="1800" b="0">
                          <a:solidFill>
                            <a:srgbClr val="153C36"/>
                          </a:solidFill>
                          <a:latin typeface="Aptos"/>
                        </a:defRPr>
                      </a:pPr>
                      <a:r>
                        <a:t>.8474</a:t>
                      </a:r>
                    </a:p>
                  </a:txBody>
                  <a:tcPr>
                    <a:solidFill>
                      <a:srgbClr val="E2EEE8"/>
                    </a:solidFill>
                  </a:tcPr>
                </a:tc>
                <a:tc>
                  <a:txBody>
                    <a:bodyPr/>
                    <a:lstStyle/>
                    <a:p>
                      <a:pPr>
                        <a:defRPr sz="1800" b="0">
                          <a:solidFill>
                            <a:srgbClr val="153C36"/>
                          </a:solidFill>
                          <a:latin typeface="Aptos"/>
                        </a:defRPr>
                      </a:pPr>
                      <a:r>
                        <a:t>.7887</a:t>
                      </a:r>
                    </a:p>
                  </a:txBody>
                  <a:tcPr>
                    <a:solidFill>
                      <a:srgbClr val="E2EEE8"/>
                    </a:solidFill>
                  </a:tcPr>
                </a:tc>
                <a:tc>
                  <a:txBody>
                    <a:bodyPr/>
                    <a:lstStyle/>
                    <a:p>
                      <a:pPr>
                        <a:defRPr sz="1800" b="0">
                          <a:solidFill>
                            <a:srgbClr val="153C36"/>
                          </a:solidFill>
                          <a:latin typeface="Aptos"/>
                        </a:defRPr>
                      </a:pPr>
                      <a:r>
                        <a:t>.6075</a:t>
                      </a:r>
                    </a:p>
                  </a:txBody>
                  <a:tcPr>
                    <a:solidFill>
                      <a:srgbClr val="E2EEE8"/>
                    </a:solidFill>
                  </a:tcPr>
                </a:tc>
                <a:tc>
                  <a:txBody>
                    <a:bodyPr/>
                    <a:lstStyle/>
                    <a:p>
                      <a:pPr>
                        <a:defRPr sz="1800" b="0">
                          <a:solidFill>
                            <a:srgbClr val="153C36"/>
                          </a:solidFill>
                          <a:latin typeface="Aptos"/>
                        </a:defRPr>
                      </a:pPr>
                      <a:r>
                        <a:t>.6863</a:t>
                      </a:r>
                    </a:p>
                  </a:txBody>
                  <a:tcPr>
                    <a:solidFill>
                      <a:srgbClr val="E2EEE8"/>
                    </a:solidFill>
                  </a:tcPr>
                </a:tc>
              </a:tr>
              <a:tr h="512064">
                <a:tc>
                  <a:txBody>
                    <a:bodyPr/>
                    <a:lstStyle/>
                    <a:p>
                      <a:pPr>
                        <a:defRPr sz="1800" b="0">
                          <a:solidFill>
                            <a:srgbClr val="153C36"/>
                          </a:solidFill>
                          <a:latin typeface="Aptos"/>
                        </a:defRPr>
                      </a:pPr>
                      <a:r>
                        <a:t>Extra Trees</a:t>
                      </a:r>
                    </a:p>
                  </a:txBody>
                  <a:tcPr>
                    <a:solidFill>
                      <a:srgbClr val="FFFFFF"/>
                    </a:solidFill>
                  </a:tcPr>
                </a:tc>
                <a:tc>
                  <a:txBody>
                    <a:bodyPr/>
                    <a:lstStyle/>
                    <a:p>
                      <a:pPr>
                        <a:defRPr sz="1800" b="0">
                          <a:solidFill>
                            <a:srgbClr val="153C36"/>
                          </a:solidFill>
                          <a:latin typeface="Aptos"/>
                        </a:defRPr>
                      </a:pPr>
                      <a:r>
                        <a:t>.9058</a:t>
                      </a:r>
                    </a:p>
                  </a:txBody>
                  <a:tcPr>
                    <a:solidFill>
                      <a:srgbClr val="FFFFFF"/>
                    </a:solidFill>
                  </a:tcPr>
                </a:tc>
                <a:tc>
                  <a:txBody>
                    <a:bodyPr/>
                    <a:lstStyle/>
                    <a:p>
                      <a:pPr>
                        <a:defRPr sz="1800" b="0">
                          <a:solidFill>
                            <a:srgbClr val="153C36"/>
                          </a:solidFill>
                          <a:latin typeface="Aptos"/>
                        </a:defRPr>
                      </a:pPr>
                      <a:r>
                        <a:t>.8435</a:t>
                      </a:r>
                    </a:p>
                  </a:txBody>
                  <a:tcPr>
                    <a:solidFill>
                      <a:srgbClr val="FFFFFF"/>
                    </a:solidFill>
                  </a:tcPr>
                </a:tc>
                <a:tc>
                  <a:txBody>
                    <a:bodyPr/>
                    <a:lstStyle/>
                    <a:p>
                      <a:pPr>
                        <a:defRPr sz="1800" b="0">
                          <a:solidFill>
                            <a:srgbClr val="153C36"/>
                          </a:solidFill>
                          <a:latin typeface="Aptos"/>
                        </a:defRPr>
                      </a:pPr>
                      <a:r>
                        <a:t>.7802</a:t>
                      </a:r>
                    </a:p>
                  </a:txBody>
                  <a:tcPr>
                    <a:solidFill>
                      <a:srgbClr val="FFFFFF"/>
                    </a:solidFill>
                  </a:tcPr>
                </a:tc>
                <a:tc>
                  <a:txBody>
                    <a:bodyPr/>
                    <a:lstStyle/>
                    <a:p>
                      <a:pPr>
                        <a:defRPr sz="1800" b="0">
                          <a:solidFill>
                            <a:srgbClr val="153C36"/>
                          </a:solidFill>
                          <a:latin typeface="Aptos"/>
                        </a:defRPr>
                      </a:pPr>
                      <a:r>
                        <a:t>.5994</a:t>
                      </a:r>
                    </a:p>
                  </a:txBody>
                  <a:tcPr>
                    <a:solidFill>
                      <a:srgbClr val="FFFFFF"/>
                    </a:solidFill>
                  </a:tcPr>
                </a:tc>
                <a:tc>
                  <a:txBody>
                    <a:bodyPr/>
                    <a:lstStyle/>
                    <a:p>
                      <a:pPr>
                        <a:defRPr sz="1800" b="0">
                          <a:solidFill>
                            <a:srgbClr val="153C36"/>
                          </a:solidFill>
                          <a:latin typeface="Aptos"/>
                        </a:defRPr>
                      </a:pPr>
                      <a:r>
                        <a:t>.6779</a:t>
                      </a:r>
                    </a:p>
                  </a:txBody>
                  <a:tcPr>
                    <a:solidFill>
                      <a:srgbClr val="FFFFFF"/>
                    </a:solidFill>
                  </a:tcPr>
                </a:tc>
              </a:tr>
              <a:tr h="512064">
                <a:tc>
                  <a:txBody>
                    <a:bodyPr/>
                    <a:lstStyle/>
                    <a:p>
                      <a:pPr>
                        <a:defRPr sz="1800" b="0">
                          <a:solidFill>
                            <a:srgbClr val="153C36"/>
                          </a:solidFill>
                          <a:latin typeface="Aptos"/>
                        </a:defRPr>
                      </a:pPr>
                      <a:r>
                        <a:t>Logistic Regression</a:t>
                      </a:r>
                    </a:p>
                  </a:txBody>
                  <a:tcPr>
                    <a:solidFill>
                      <a:srgbClr val="E2EEE8"/>
                    </a:solidFill>
                  </a:tcPr>
                </a:tc>
                <a:tc>
                  <a:txBody>
                    <a:bodyPr/>
                    <a:lstStyle/>
                    <a:p>
                      <a:pPr>
                        <a:defRPr sz="1800" b="0">
                          <a:solidFill>
                            <a:srgbClr val="153C36"/>
                          </a:solidFill>
                          <a:latin typeface="Aptos"/>
                        </a:defRPr>
                      </a:pPr>
                      <a:r>
                        <a:t>.8640</a:t>
                      </a:r>
                    </a:p>
                  </a:txBody>
                  <a:tcPr>
                    <a:solidFill>
                      <a:srgbClr val="E2EEE8"/>
                    </a:solidFill>
                  </a:tcPr>
                </a:tc>
                <a:tc>
                  <a:txBody>
                    <a:bodyPr/>
                    <a:lstStyle/>
                    <a:p>
                      <a:pPr>
                        <a:defRPr sz="1800" b="0">
                          <a:solidFill>
                            <a:srgbClr val="153C36"/>
                          </a:solidFill>
                          <a:latin typeface="Aptos"/>
                        </a:defRPr>
                      </a:pPr>
                      <a:r>
                        <a:t>.8062</a:t>
                      </a:r>
                    </a:p>
                  </a:txBody>
                  <a:tcPr>
                    <a:solidFill>
                      <a:srgbClr val="E2EEE8"/>
                    </a:solidFill>
                  </a:tcPr>
                </a:tc>
                <a:tc>
                  <a:txBody>
                    <a:bodyPr/>
                    <a:lstStyle/>
                    <a:p>
                      <a:pPr>
                        <a:defRPr sz="1800" b="0">
                          <a:solidFill>
                            <a:srgbClr val="153C36"/>
                          </a:solidFill>
                          <a:latin typeface="Aptos"/>
                        </a:defRPr>
                      </a:pPr>
                      <a:r>
                        <a:t>.6893</a:t>
                      </a:r>
                    </a:p>
                  </a:txBody>
                  <a:tcPr>
                    <a:solidFill>
                      <a:srgbClr val="E2EEE8"/>
                    </a:solidFill>
                  </a:tcPr>
                </a:tc>
                <a:tc>
                  <a:txBody>
                    <a:bodyPr/>
                    <a:lstStyle/>
                    <a:p>
                      <a:pPr>
                        <a:defRPr sz="1800" b="0">
                          <a:solidFill>
                            <a:srgbClr val="153C36"/>
                          </a:solidFill>
                          <a:latin typeface="Aptos"/>
                        </a:defRPr>
                      </a:pPr>
                      <a:r>
                        <a:t>.5372</a:t>
                      </a:r>
                    </a:p>
                  </a:txBody>
                  <a:tcPr>
                    <a:solidFill>
                      <a:srgbClr val="E2EEE8"/>
                    </a:solidFill>
                  </a:tcPr>
                </a:tc>
                <a:tc>
                  <a:txBody>
                    <a:bodyPr/>
                    <a:lstStyle/>
                    <a:p>
                      <a:pPr>
                        <a:defRPr sz="1800" b="0">
                          <a:solidFill>
                            <a:srgbClr val="153C36"/>
                          </a:solidFill>
                          <a:latin typeface="Aptos"/>
                        </a:defRPr>
                      </a:pPr>
                      <a:r>
                        <a:t>.6038</a:t>
                      </a:r>
                    </a:p>
                  </a:txBody>
                  <a:tcPr>
                    <a:solidFill>
                      <a:srgbClr val="E2EEE8"/>
                    </a:solidFill>
                  </a:tcPr>
                </a:tc>
              </a:tr>
              <a:tr h="512064">
                <a:tc>
                  <a:txBody>
                    <a:bodyPr/>
                    <a:lstStyle/>
                    <a:p>
                      <a:pPr>
                        <a:defRPr sz="1800" b="0">
                          <a:solidFill>
                            <a:srgbClr val="153C36"/>
                          </a:solidFill>
                          <a:latin typeface="Aptos"/>
                        </a:defRPr>
                      </a:pPr>
                      <a:r>
                        <a:t>Decision Tree</a:t>
                      </a:r>
                    </a:p>
                  </a:txBody>
                  <a:tcPr>
                    <a:solidFill>
                      <a:srgbClr val="FFFFFF"/>
                    </a:solidFill>
                  </a:tcPr>
                </a:tc>
                <a:tc>
                  <a:txBody>
                    <a:bodyPr/>
                    <a:lstStyle/>
                    <a:p>
                      <a:pPr>
                        <a:defRPr sz="1800" b="0">
                          <a:solidFill>
                            <a:srgbClr val="153C36"/>
                          </a:solidFill>
                          <a:latin typeface="Aptos"/>
                        </a:defRPr>
                      </a:pPr>
                      <a:r>
                        <a:t>.8476</a:t>
                      </a:r>
                    </a:p>
                  </a:txBody>
                  <a:tcPr>
                    <a:solidFill>
                      <a:srgbClr val="FFFFFF"/>
                    </a:solidFill>
                  </a:tcPr>
                </a:tc>
                <a:tc>
                  <a:txBody>
                    <a:bodyPr/>
                    <a:lstStyle/>
                    <a:p>
                      <a:pPr>
                        <a:defRPr sz="1800" b="0">
                          <a:solidFill>
                            <a:srgbClr val="153C36"/>
                          </a:solidFill>
                          <a:latin typeface="Aptos"/>
                        </a:defRPr>
                      </a:pPr>
                      <a:r>
                        <a:t>.8166</a:t>
                      </a:r>
                    </a:p>
                  </a:txBody>
                  <a:tcPr>
                    <a:solidFill>
                      <a:srgbClr val="FFFFFF"/>
                    </a:solidFill>
                  </a:tcPr>
                </a:tc>
                <a:tc>
                  <a:txBody>
                    <a:bodyPr/>
                    <a:lstStyle/>
                    <a:p>
                      <a:pPr>
                        <a:defRPr sz="1800" b="0">
                          <a:solidFill>
                            <a:srgbClr val="153C36"/>
                          </a:solidFill>
                          <a:latin typeface="Aptos"/>
                        </a:defRPr>
                      </a:pPr>
                      <a:r>
                        <a:t>.6744</a:t>
                      </a:r>
                    </a:p>
                  </a:txBody>
                  <a:tcPr>
                    <a:solidFill>
                      <a:srgbClr val="FFFFFF"/>
                    </a:solidFill>
                  </a:tcPr>
                </a:tc>
                <a:tc>
                  <a:txBody>
                    <a:bodyPr/>
                    <a:lstStyle/>
                    <a:p>
                      <a:pPr>
                        <a:defRPr sz="1800" b="0">
                          <a:solidFill>
                            <a:srgbClr val="153C36"/>
                          </a:solidFill>
                          <a:latin typeface="Aptos"/>
                        </a:defRPr>
                      </a:pPr>
                      <a:r>
                        <a:t>.6439</a:t>
                      </a:r>
                    </a:p>
                  </a:txBody>
                  <a:tcPr>
                    <a:solidFill>
                      <a:srgbClr val="FFFFFF"/>
                    </a:solidFill>
                  </a:tcPr>
                </a:tc>
                <a:tc>
                  <a:txBody>
                    <a:bodyPr/>
                    <a:lstStyle/>
                    <a:p>
                      <a:pPr>
                        <a:defRPr sz="1800" b="0">
                          <a:solidFill>
                            <a:srgbClr val="153C36"/>
                          </a:solidFill>
                          <a:latin typeface="Aptos"/>
                        </a:defRPr>
                      </a:pPr>
                      <a:r>
                        <a:t>.6587</a:t>
                      </a:r>
                    </a:p>
                  </a:txBody>
                  <a:tcPr>
                    <a:solidFill>
                      <a:srgbClr val="FFFFFF"/>
                    </a:solidFill>
                  </a:tcPr>
                </a:tc>
              </a:tr>
            </a:tbl>
          </a:graphicData>
        </a:graphic>
      </p:graphicFrame>
      <p:sp>
        <p:nvSpPr>
          <p:cNvPr id="7" name="TextBox 6"/>
          <p:cNvSpPr txBox="1"/>
          <p:nvPr/>
        </p:nvSpPr>
        <p:spPr>
          <a:xfrm>
            <a:off x="777240" y="5166360"/>
            <a:ext cx="10424160" cy="594360"/>
          </a:xfrm>
          <a:prstGeom prst="rect">
            <a:avLst/>
          </a:prstGeom>
          <a:noFill/>
        </p:spPr>
        <p:txBody>
          <a:bodyPr wrap="square">
            <a:spAutoFit/>
          </a:bodyPr>
          <a:lstStyle/>
          <a:p>
            <a:pPr>
              <a:spcAft>
                <a:spcPts val="1400"/>
              </a:spcAft>
              <a:defRPr sz="2100" b="1">
                <a:solidFill>
                  <a:srgbClr val="19806B"/>
                </a:solidFill>
                <a:latin typeface="Aptos"/>
              </a:defRPr>
            </a:pPr>
            <a:r>
              <a:t>Random Forest leads on ranking; no single model leads on every metric.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Validation ranking and overfitting signals</a:t>
            </a:r>
          </a:p>
        </p:txBody>
      </p:sp>
      <p:sp>
        <p:nvSpPr>
          <p:cNvPr id="4" name="TextBox 3"/>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Seyon  |  Model/new.ipynb · TEAM_VIVA_GUIDE.md</a:t>
            </a:r>
          </a:p>
        </p:txBody>
      </p:sp>
      <p:sp>
        <p:nvSpPr>
          <p:cNvPr id="5" name="TextBox 4"/>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08</a:t>
            </a:r>
          </a:p>
        </p:txBody>
      </p:sp>
      <p:graphicFrame>
        <p:nvGraphicFramePr>
          <p:cNvPr id="6" name="Chart 5"/>
          <p:cNvGraphicFramePr>
            <a:graphicFrameLocks noGrp="1"/>
          </p:cNvGraphicFramePr>
          <p:nvPr/>
        </p:nvGraphicFramePr>
        <p:xfrm>
          <a:off x="731520" y="2011680"/>
          <a:ext cx="6766560" cy="3566160"/>
        </p:xfrm>
        <a:graphic>
          <a:graphicData uri="http://schemas.openxmlformats.org/drawingml/2006/chart">
            <c:chart xmlns:c="http://schemas.openxmlformats.org/drawingml/2006/chart" r:id="rId3"/>
          </a:graphicData>
        </a:graphic>
      </p:graphicFrame>
      <p:sp>
        <p:nvSpPr>
          <p:cNvPr id="7" name="TextBox 6"/>
          <p:cNvSpPr txBox="1"/>
          <p:nvPr/>
        </p:nvSpPr>
        <p:spPr>
          <a:xfrm>
            <a:off x="7818120" y="2240280"/>
            <a:ext cx="3657600" cy="3383280"/>
          </a:xfrm>
          <a:prstGeom prst="rect">
            <a:avLst/>
          </a:prstGeom>
          <a:noFill/>
        </p:spPr>
        <p:txBody>
          <a:bodyPr wrap="square">
            <a:spAutoFit/>
          </a:bodyPr>
          <a:lstStyle/>
          <a:p>
            <a:pPr>
              <a:spcAft>
                <a:spcPts val="1400"/>
              </a:spcAft>
              <a:defRPr sz="2000" b="0">
                <a:solidFill>
                  <a:srgbClr val="153C36"/>
                </a:solidFill>
                <a:latin typeface="Aptos"/>
              </a:defRPr>
            </a:pPr>
            <a:r>
              <a:t>Train–validation AUC gap</a:t>
            </a:r>
          </a:p>
          <a:p>
            <a:pPr>
              <a:spcAft>
                <a:spcPts val="1400"/>
              </a:spcAft>
              <a:defRPr sz="2000" b="0">
                <a:solidFill>
                  <a:srgbClr val="153C36"/>
                </a:solidFill>
                <a:latin typeface="Aptos"/>
              </a:defRPr>
            </a:pPr>
            <a:r>
              <a:t>Decision Tree: 0.1144</a:t>
            </a:r>
          </a:p>
          <a:p>
            <a:pPr>
              <a:spcAft>
                <a:spcPts val="1400"/>
              </a:spcAft>
              <a:defRPr sz="2000" b="0">
                <a:solidFill>
                  <a:srgbClr val="153C36"/>
                </a:solidFill>
                <a:latin typeface="Aptos"/>
              </a:defRPr>
            </a:pPr>
            <a:r>
              <a:t>Random Forest: 0.0762</a:t>
            </a:r>
          </a:p>
          <a:p>
            <a:pPr>
              <a:spcAft>
                <a:spcPts val="1400"/>
              </a:spcAft>
              <a:defRPr sz="2000" b="0">
                <a:solidFill>
                  <a:srgbClr val="153C36"/>
                </a:solidFill>
                <a:latin typeface="Aptos"/>
              </a:defRPr>
            </a:pPr>
            <a:r>
              <a:t>Extra Trees: 0.0811</a:t>
            </a:r>
          </a:p>
          <a:p>
            <a:pPr>
              <a:spcAft>
                <a:spcPts val="1400"/>
              </a:spcAft>
              <a:defRPr sz="2000" b="0">
                <a:solidFill>
                  <a:srgbClr val="153C36"/>
                </a:solidFill>
                <a:latin typeface="Aptos"/>
              </a:defRPr>
            </a:pPr>
            <a:r>
              <a:t>Logistic: 0.0027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Random Forest: constrained randomized search</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RandomizedSearchCV: 4 sampled candidates × 3 folds.</a:t>
            </a:r>
          </a:p>
          <a:p>
            <a:pPr>
              <a:spcAft>
                <a:spcPts val="1400"/>
              </a:spcAft>
              <a:defRPr sz="2300" b="0">
                <a:solidFill>
                  <a:srgbClr val="153C36"/>
                </a:solidFill>
                <a:latin typeface="Aptos"/>
              </a:defRPr>
            </a:pPr>
            <a:r>
              <a:t>Search: trees {100,160}; depth {None,20}; leaf {2,5,10}.</a:t>
            </a:r>
          </a:p>
          <a:p>
            <a:pPr>
              <a:spcAft>
                <a:spcPts val="1400"/>
              </a:spcAft>
              <a:defRPr sz="2300" b="0">
                <a:solidFill>
                  <a:srgbClr val="153C36"/>
                </a:solidFill>
                <a:latin typeface="Aptos"/>
              </a:defRPr>
            </a:pPr>
            <a:r>
              <a:t>Feature sampling: {sqrt,0.7}; scoring = ROC-AUC.</a:t>
            </a:r>
          </a:p>
          <a:p>
            <a:pPr>
              <a:spcAft>
                <a:spcPts val="1400"/>
              </a:spcAft>
              <a:defRPr sz="2300" b="0">
                <a:solidFill>
                  <a:srgbClr val="153C36"/>
                </a:solidFill>
                <a:latin typeface="Aptos"/>
              </a:defRPr>
            </a:pPr>
            <a:r>
              <a:t>Best: 100 trees, depth 20, leaf size 2, feature fraction 0.7.</a:t>
            </a:r>
          </a:p>
          <a:p>
            <a:pPr>
              <a:spcAft>
                <a:spcPts val="1400"/>
              </a:spcAft>
              <a:defRPr sz="2300" b="0">
                <a:solidFill>
                  <a:srgbClr val="153C36"/>
                </a:solidFill>
                <a:latin typeface="Aptos"/>
              </a:defRPr>
            </a:pPr>
            <a:r>
              <a:t>CV ROC-AUC: 0.9097 → 0.9125 (+0.0028).</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Gowsika  |  Model/new.ipynb · TEAM_VIVA_GUIDE.md</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Logistic Regression: small exhaustive grid</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GridSearchCV: 6 candidates × 3 folds.</a:t>
            </a:r>
          </a:p>
          <a:p>
            <a:pPr>
              <a:spcAft>
                <a:spcPts val="1400"/>
              </a:spcAft>
              <a:defRPr sz="2300" b="0">
                <a:solidFill>
                  <a:srgbClr val="153C36"/>
                </a:solidFill>
                <a:latin typeface="Aptos"/>
              </a:defRPr>
            </a:pPr>
            <a:r>
              <a:t>C ∈ {0.3, 1.0, 3.0}; class_weight ∈ {None, balanced}.</a:t>
            </a:r>
          </a:p>
          <a:p>
            <a:pPr>
              <a:spcAft>
                <a:spcPts val="1400"/>
              </a:spcAft>
              <a:defRPr sz="2300" b="0">
                <a:solidFill>
                  <a:srgbClr val="153C36"/>
                </a:solidFill>
                <a:latin typeface="Aptos"/>
              </a:defRPr>
            </a:pPr>
            <a:r>
              <a:t>Smaller C means stronger regularization.</a:t>
            </a:r>
          </a:p>
          <a:p>
            <a:pPr>
              <a:spcAft>
                <a:spcPts val="1400"/>
              </a:spcAft>
              <a:defRPr sz="2300" b="0">
                <a:solidFill>
                  <a:srgbClr val="153C36"/>
                </a:solidFill>
                <a:latin typeface="Aptos"/>
              </a:defRPr>
            </a:pPr>
            <a:r>
              <a:t>Best: C = 3.0; balanced class weights.</a:t>
            </a:r>
          </a:p>
          <a:p>
            <a:pPr>
              <a:spcAft>
                <a:spcPts val="1400"/>
              </a:spcAft>
              <a:defRPr sz="2300" b="0">
                <a:solidFill>
                  <a:srgbClr val="153C36"/>
                </a:solidFill>
                <a:latin typeface="Aptos"/>
              </a:defRPr>
            </a:pPr>
            <a:r>
              <a:t>CV ROC-AUC: 0.8640 → 0.8644 (+0.0004).</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Subasthican  |  Model/new.ipynb · TEAM_VIVA_GUIDE.md</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Final selection uses training evidence</a:t>
            </a:r>
          </a:p>
        </p:txBody>
      </p:sp>
      <p:sp>
        <p:nvSpPr>
          <p:cNvPr id="4" name="TextBox 3"/>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Subasthican  |  Model/new.ipynb · TEAM_VIVA_GUIDE.md</a:t>
            </a:r>
          </a:p>
        </p:txBody>
      </p:sp>
      <p:sp>
        <p:nvSpPr>
          <p:cNvPr id="5" name="TextBox 4"/>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11</a:t>
            </a:r>
          </a:p>
        </p:txBody>
      </p:sp>
      <p:graphicFrame>
        <p:nvGraphicFramePr>
          <p:cNvPr id="6" name="Table 5"/>
          <p:cNvGraphicFramePr>
            <a:graphicFrameLocks noGrp="1"/>
          </p:cNvGraphicFramePr>
          <p:nvPr/>
        </p:nvGraphicFramePr>
        <p:xfrm>
          <a:off x="731520" y="2148840"/>
          <a:ext cx="10744200" cy="3584448"/>
        </p:xfrm>
        <a:graphic>
          <a:graphicData uri="http://schemas.openxmlformats.org/drawingml/2006/table">
            <a:tbl>
              <a:tblPr firstRow="1" bandRow="1">
                <a:tableStyleId>{5C22544A-7EE6-4342-B048-85BDC9FD1C3A}</a:tableStyleId>
              </a:tblPr>
              <a:tblGrid>
                <a:gridCol w="7315200"/>
                <a:gridCol w="3429000"/>
              </a:tblGrid>
              <a:tr h="512064">
                <a:tc>
                  <a:txBody>
                    <a:bodyPr/>
                    <a:lstStyle/>
                    <a:p>
                      <a:pPr>
                        <a:defRPr sz="1800" b="1">
                          <a:solidFill>
                            <a:srgbClr val="FFFFFF"/>
                          </a:solidFill>
                          <a:latin typeface="Aptos"/>
                        </a:defRPr>
                      </a:pPr>
                      <a:r>
                        <a:t>Candidate</a:t>
                      </a:r>
                    </a:p>
                  </a:txBody>
                  <a:tcPr>
                    <a:solidFill>
                      <a:srgbClr val="153C36"/>
                    </a:solidFill>
                  </a:tcPr>
                </a:tc>
                <a:tc>
                  <a:txBody>
                    <a:bodyPr/>
                    <a:lstStyle/>
                    <a:p>
                      <a:pPr>
                        <a:defRPr sz="1800" b="1">
                          <a:solidFill>
                            <a:srgbClr val="FFFFFF"/>
                          </a:solidFill>
                          <a:latin typeface="Aptos"/>
                        </a:defRPr>
                      </a:pPr>
                      <a:r>
                        <a:t>Training CV ROC-AUC</a:t>
                      </a:r>
                    </a:p>
                  </a:txBody>
                  <a:tcPr>
                    <a:solidFill>
                      <a:srgbClr val="153C36"/>
                    </a:solidFill>
                  </a:tcPr>
                </a:tc>
              </a:tr>
              <a:tr h="512064">
                <a:tc>
                  <a:txBody>
                    <a:bodyPr/>
                    <a:lstStyle/>
                    <a:p>
                      <a:pPr>
                        <a:defRPr sz="1800" b="0">
                          <a:solidFill>
                            <a:srgbClr val="153C36"/>
                          </a:solidFill>
                          <a:latin typeface="Aptos"/>
                        </a:defRPr>
                      </a:pPr>
                      <a:r>
                        <a:t>Tuned Random Forest</a:t>
                      </a:r>
                    </a:p>
                  </a:txBody>
                  <a:tcPr>
                    <a:solidFill>
                      <a:srgbClr val="E2EEE8"/>
                    </a:solidFill>
                  </a:tcPr>
                </a:tc>
                <a:tc>
                  <a:txBody>
                    <a:bodyPr/>
                    <a:lstStyle/>
                    <a:p>
                      <a:pPr>
                        <a:defRPr sz="1800" b="0">
                          <a:solidFill>
                            <a:srgbClr val="153C36"/>
                          </a:solidFill>
                          <a:latin typeface="Aptos"/>
                        </a:defRPr>
                      </a:pPr>
                      <a:r>
                        <a:t>0.9125</a:t>
                      </a:r>
                    </a:p>
                  </a:txBody>
                  <a:tcPr>
                    <a:solidFill>
                      <a:srgbClr val="E2EEE8"/>
                    </a:solidFill>
                  </a:tcPr>
                </a:tc>
              </a:tr>
              <a:tr h="512064">
                <a:tc>
                  <a:txBody>
                    <a:bodyPr/>
                    <a:lstStyle/>
                    <a:p>
                      <a:pPr>
                        <a:defRPr sz="1800" b="0">
                          <a:solidFill>
                            <a:srgbClr val="153C36"/>
                          </a:solidFill>
                          <a:latin typeface="Aptos"/>
                        </a:defRPr>
                      </a:pPr>
                      <a:r>
                        <a:t>Baseline Random Forest</a:t>
                      </a:r>
                    </a:p>
                  </a:txBody>
                  <a:tcPr>
                    <a:solidFill>
                      <a:srgbClr val="FFFFFF"/>
                    </a:solidFill>
                  </a:tcPr>
                </a:tc>
                <a:tc>
                  <a:txBody>
                    <a:bodyPr/>
                    <a:lstStyle/>
                    <a:p>
                      <a:pPr>
                        <a:defRPr sz="1800" b="0">
                          <a:solidFill>
                            <a:srgbClr val="153C36"/>
                          </a:solidFill>
                          <a:latin typeface="Aptos"/>
                        </a:defRPr>
                      </a:pPr>
                      <a:r>
                        <a:t>0.9097</a:t>
                      </a:r>
                    </a:p>
                  </a:txBody>
                  <a:tcPr>
                    <a:solidFill>
                      <a:srgbClr val="FFFFFF"/>
                    </a:solidFill>
                  </a:tcPr>
                </a:tc>
              </a:tr>
              <a:tr h="512064">
                <a:tc>
                  <a:txBody>
                    <a:bodyPr/>
                    <a:lstStyle/>
                    <a:p>
                      <a:pPr>
                        <a:defRPr sz="1800" b="0">
                          <a:solidFill>
                            <a:srgbClr val="153C36"/>
                          </a:solidFill>
                          <a:latin typeface="Aptos"/>
                        </a:defRPr>
                      </a:pPr>
                      <a:r>
                        <a:t>Baseline Extra Trees</a:t>
                      </a:r>
                    </a:p>
                  </a:txBody>
                  <a:tcPr>
                    <a:solidFill>
                      <a:srgbClr val="E2EEE8"/>
                    </a:solidFill>
                  </a:tcPr>
                </a:tc>
                <a:tc>
                  <a:txBody>
                    <a:bodyPr/>
                    <a:lstStyle/>
                    <a:p>
                      <a:pPr>
                        <a:defRPr sz="1800" b="0">
                          <a:solidFill>
                            <a:srgbClr val="153C36"/>
                          </a:solidFill>
                          <a:latin typeface="Aptos"/>
                        </a:defRPr>
                      </a:pPr>
                      <a:r>
                        <a:t>0.9058</a:t>
                      </a:r>
                    </a:p>
                  </a:txBody>
                  <a:tcPr>
                    <a:solidFill>
                      <a:srgbClr val="E2EEE8"/>
                    </a:solidFill>
                  </a:tcPr>
                </a:tc>
              </a:tr>
              <a:tr h="512064">
                <a:tc>
                  <a:txBody>
                    <a:bodyPr/>
                    <a:lstStyle/>
                    <a:p>
                      <a:pPr>
                        <a:defRPr sz="1800" b="0">
                          <a:solidFill>
                            <a:srgbClr val="153C36"/>
                          </a:solidFill>
                          <a:latin typeface="Aptos"/>
                        </a:defRPr>
                      </a:pPr>
                      <a:r>
                        <a:t>Tuned Logistic Regression</a:t>
                      </a:r>
                    </a:p>
                  </a:txBody>
                  <a:tcPr>
                    <a:solidFill>
                      <a:srgbClr val="FFFFFF"/>
                    </a:solidFill>
                  </a:tcPr>
                </a:tc>
                <a:tc>
                  <a:txBody>
                    <a:bodyPr/>
                    <a:lstStyle/>
                    <a:p>
                      <a:pPr>
                        <a:defRPr sz="1800" b="0">
                          <a:solidFill>
                            <a:srgbClr val="153C36"/>
                          </a:solidFill>
                          <a:latin typeface="Aptos"/>
                        </a:defRPr>
                      </a:pPr>
                      <a:r>
                        <a:t>0.8644</a:t>
                      </a:r>
                    </a:p>
                  </a:txBody>
                  <a:tcPr>
                    <a:solidFill>
                      <a:srgbClr val="FFFFFF"/>
                    </a:solidFill>
                  </a:tcPr>
                </a:tc>
              </a:tr>
              <a:tr h="512064">
                <a:tc>
                  <a:txBody>
                    <a:bodyPr/>
                    <a:lstStyle/>
                    <a:p>
                      <a:pPr>
                        <a:defRPr sz="1800" b="0">
                          <a:solidFill>
                            <a:srgbClr val="153C36"/>
                          </a:solidFill>
                          <a:latin typeface="Aptos"/>
                        </a:defRPr>
                      </a:pPr>
                      <a:r>
                        <a:t>Baseline Logistic Regression</a:t>
                      </a:r>
                    </a:p>
                  </a:txBody>
                  <a:tcPr>
                    <a:solidFill>
                      <a:srgbClr val="E2EEE8"/>
                    </a:solidFill>
                  </a:tcPr>
                </a:tc>
                <a:tc>
                  <a:txBody>
                    <a:bodyPr/>
                    <a:lstStyle/>
                    <a:p>
                      <a:pPr>
                        <a:defRPr sz="1800" b="0">
                          <a:solidFill>
                            <a:srgbClr val="153C36"/>
                          </a:solidFill>
                          <a:latin typeface="Aptos"/>
                        </a:defRPr>
                      </a:pPr>
                      <a:r>
                        <a:t>0.8640</a:t>
                      </a:r>
                    </a:p>
                  </a:txBody>
                  <a:tcPr>
                    <a:solidFill>
                      <a:srgbClr val="E2EEE8"/>
                    </a:solidFill>
                  </a:tcPr>
                </a:tc>
              </a:tr>
              <a:tr h="512064">
                <a:tc>
                  <a:txBody>
                    <a:bodyPr/>
                    <a:lstStyle/>
                    <a:p>
                      <a:pPr>
                        <a:defRPr sz="1800" b="0">
                          <a:solidFill>
                            <a:srgbClr val="153C36"/>
                          </a:solidFill>
                          <a:latin typeface="Aptos"/>
                        </a:defRPr>
                      </a:pPr>
                      <a:r>
                        <a:t>Baseline Decision Tree</a:t>
                      </a:r>
                    </a:p>
                  </a:txBody>
                  <a:tcPr>
                    <a:solidFill>
                      <a:srgbClr val="FFFFFF"/>
                    </a:solidFill>
                  </a:tcPr>
                </a:tc>
                <a:tc>
                  <a:txBody>
                    <a:bodyPr/>
                    <a:lstStyle/>
                    <a:p>
                      <a:pPr>
                        <a:defRPr sz="1800" b="0">
                          <a:solidFill>
                            <a:srgbClr val="153C36"/>
                          </a:solidFill>
                          <a:latin typeface="Aptos"/>
                        </a:defRPr>
                      </a:pPr>
                      <a:r>
                        <a:t>0.8476</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Feature ablation finds no useful gain</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Derived: total_nights; is_long_stay (&gt;7 nights).</a:t>
            </a:r>
          </a:p>
          <a:p>
            <a:pPr>
              <a:spcAft>
                <a:spcPts val="1400"/>
              </a:spcAft>
              <a:defRPr sz="2300" b="0">
                <a:solidFill>
                  <a:srgbClr val="153C36"/>
                </a:solidFill>
                <a:latin typeface="Aptos"/>
              </a:defRPr>
            </a:pPr>
            <a:r>
              <a:t>Derived: is_weekend_stay (&gt;0); is_high_lead_time (&gt;60 days).</a:t>
            </a:r>
          </a:p>
          <a:p>
            <a:pPr>
              <a:spcAft>
                <a:spcPts val="1400"/>
              </a:spcAft>
              <a:defRPr sz="2300" b="0">
                <a:solidFill>
                  <a:srgbClr val="153C36"/>
                </a:solidFill>
                <a:latin typeface="Aptos"/>
              </a:defRPr>
            </a:pPr>
            <a:r>
              <a:t>With engineering: CV ROC-AUC 0.9125.</a:t>
            </a:r>
          </a:p>
          <a:p>
            <a:pPr>
              <a:spcAft>
                <a:spcPts val="1400"/>
              </a:spcAft>
              <a:defRPr sz="2300" b="0">
                <a:solidFill>
                  <a:srgbClr val="153C36"/>
                </a:solidFill>
                <a:latin typeface="Aptos"/>
              </a:defRPr>
            </a:pPr>
            <a:r>
              <a:t>Without engineering: CV ROC-AUC 0.9126.</a:t>
            </a:r>
          </a:p>
          <a:p>
            <a:pPr>
              <a:spcAft>
                <a:spcPts val="1400"/>
              </a:spcAft>
              <a:defRPr sz="2300" b="0">
                <a:solidFill>
                  <a:srgbClr val="153C36"/>
                </a:solidFill>
                <a:latin typeface="Aptos"/>
              </a:defRPr>
            </a:pPr>
            <a:r>
              <a:t>Difference ≈ −0.0001: no demonstrated improvement.</a:t>
            </a:r>
          </a:p>
          <a:p>
            <a:pPr>
              <a:spcAft>
                <a:spcPts val="1400"/>
              </a:spcAft>
              <a:defRPr sz="2300" b="0">
                <a:solidFill>
                  <a:srgbClr val="153C36"/>
                </a:solidFill>
                <a:latin typeface="Aptos"/>
              </a:defRPr>
            </a:pPr>
            <a:r>
              <a:t>The supplied pipeline retains the four features.</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Gowsika  |  Model/new.ipynb · TEAM_VIVA_GUIDE.md</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Held-out results: 17,480 unseen bookings</a:t>
            </a:r>
          </a:p>
        </p:txBody>
      </p:sp>
      <p:sp>
        <p:nvSpPr>
          <p:cNvPr id="4" name="TextBox 3"/>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Kageepan  |  Model/new.ipynb · TEAM_VIVA_GUIDE.md</a:t>
            </a:r>
          </a:p>
        </p:txBody>
      </p:sp>
      <p:sp>
        <p:nvSpPr>
          <p:cNvPr id="5" name="TextBox 4"/>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13</a:t>
            </a:r>
          </a:p>
        </p:txBody>
      </p:sp>
      <p:graphicFrame>
        <p:nvGraphicFramePr>
          <p:cNvPr id="6" name="Table 5"/>
          <p:cNvGraphicFramePr>
            <a:graphicFrameLocks noGrp="1"/>
          </p:cNvGraphicFramePr>
          <p:nvPr/>
        </p:nvGraphicFramePr>
        <p:xfrm>
          <a:off x="731520" y="2148840"/>
          <a:ext cx="10744200" cy="3584448"/>
        </p:xfrm>
        <a:graphic>
          <a:graphicData uri="http://schemas.openxmlformats.org/drawingml/2006/table">
            <a:tbl>
              <a:tblPr firstRow="1" bandRow="1">
                <a:tableStyleId>{5C22544A-7EE6-4342-B048-85BDC9FD1C3A}</a:tableStyleId>
              </a:tblPr>
              <a:tblGrid>
                <a:gridCol w="3108960"/>
                <a:gridCol w="2011680"/>
                <a:gridCol w="5623560"/>
              </a:tblGrid>
              <a:tr h="512064">
                <a:tc>
                  <a:txBody>
                    <a:bodyPr/>
                    <a:lstStyle/>
                    <a:p>
                      <a:pPr>
                        <a:defRPr sz="1800" b="1">
                          <a:solidFill>
                            <a:srgbClr val="FFFFFF"/>
                          </a:solidFill>
                          <a:latin typeface="Aptos"/>
                        </a:defRPr>
                      </a:pPr>
                      <a:r>
                        <a:t>Metric</a:t>
                      </a:r>
                    </a:p>
                  </a:txBody>
                  <a:tcPr>
                    <a:solidFill>
                      <a:srgbClr val="153C36"/>
                    </a:solidFill>
                  </a:tcPr>
                </a:tc>
                <a:tc>
                  <a:txBody>
                    <a:bodyPr/>
                    <a:lstStyle/>
                    <a:p>
                      <a:pPr>
                        <a:defRPr sz="1800" b="1">
                          <a:solidFill>
                            <a:srgbClr val="FFFFFF"/>
                          </a:solidFill>
                          <a:latin typeface="Aptos"/>
                        </a:defRPr>
                      </a:pPr>
                      <a:r>
                        <a:t>Score</a:t>
                      </a:r>
                    </a:p>
                  </a:txBody>
                  <a:tcPr>
                    <a:solidFill>
                      <a:srgbClr val="153C36"/>
                    </a:solidFill>
                  </a:tcPr>
                </a:tc>
                <a:tc>
                  <a:txBody>
                    <a:bodyPr/>
                    <a:lstStyle/>
                    <a:p>
                      <a:pPr>
                        <a:defRPr sz="1800" b="1">
                          <a:solidFill>
                            <a:srgbClr val="FFFFFF"/>
                          </a:solidFill>
                          <a:latin typeface="Aptos"/>
                        </a:defRPr>
                      </a:pPr>
                      <a:r>
                        <a:t>Interpretation</a:t>
                      </a:r>
                    </a:p>
                  </a:txBody>
                  <a:tcPr>
                    <a:solidFill>
                      <a:srgbClr val="153C36"/>
                    </a:solidFill>
                  </a:tcPr>
                </a:tc>
              </a:tr>
              <a:tr h="512064">
                <a:tc>
                  <a:txBody>
                    <a:bodyPr/>
                    <a:lstStyle/>
                    <a:p>
                      <a:pPr>
                        <a:defRPr sz="1800" b="0">
                          <a:solidFill>
                            <a:srgbClr val="153C36"/>
                          </a:solidFill>
                          <a:latin typeface="Aptos"/>
                        </a:defRPr>
                      </a:pPr>
                      <a:r>
                        <a:t>ROC-AUC</a:t>
                      </a:r>
                    </a:p>
                  </a:txBody>
                  <a:tcPr>
                    <a:solidFill>
                      <a:srgbClr val="E2EEE8"/>
                    </a:solidFill>
                  </a:tcPr>
                </a:tc>
                <a:tc>
                  <a:txBody>
                    <a:bodyPr/>
                    <a:lstStyle/>
                    <a:p>
                      <a:pPr>
                        <a:defRPr sz="1800" b="0">
                          <a:solidFill>
                            <a:srgbClr val="153C36"/>
                          </a:solidFill>
                          <a:latin typeface="Aptos"/>
                        </a:defRPr>
                      </a:pPr>
                      <a:r>
                        <a:t>0.9158</a:t>
                      </a:r>
                    </a:p>
                  </a:txBody>
                  <a:tcPr>
                    <a:solidFill>
                      <a:srgbClr val="E2EEE8"/>
                    </a:solidFill>
                  </a:tcPr>
                </a:tc>
                <a:tc>
                  <a:txBody>
                    <a:bodyPr/>
                    <a:lstStyle/>
                    <a:p>
                      <a:pPr>
                        <a:defRPr sz="1800" b="0">
                          <a:solidFill>
                            <a:srgbClr val="153C36"/>
                          </a:solidFill>
                          <a:latin typeface="Aptos"/>
                        </a:defRPr>
                      </a:pPr>
                      <a:r>
                        <a:t>Ranking discrimination</a:t>
                      </a:r>
                    </a:p>
                  </a:txBody>
                  <a:tcPr>
                    <a:solidFill>
                      <a:srgbClr val="E2EEE8"/>
                    </a:solidFill>
                  </a:tcPr>
                </a:tc>
              </a:tr>
              <a:tr h="512064">
                <a:tc>
                  <a:txBody>
                    <a:bodyPr/>
                    <a:lstStyle/>
                    <a:p>
                      <a:pPr>
                        <a:defRPr sz="1800" b="0">
                          <a:solidFill>
                            <a:srgbClr val="153C36"/>
                          </a:solidFill>
                          <a:latin typeface="Aptos"/>
                        </a:defRPr>
                      </a:pPr>
                      <a:r>
                        <a:t>Accuracy</a:t>
                      </a:r>
                    </a:p>
                  </a:txBody>
                  <a:tcPr>
                    <a:solidFill>
                      <a:srgbClr val="FFFFFF"/>
                    </a:solidFill>
                  </a:tcPr>
                </a:tc>
                <a:tc>
                  <a:txBody>
                    <a:bodyPr/>
                    <a:lstStyle/>
                    <a:p>
                      <a:pPr>
                        <a:defRPr sz="1800" b="0">
                          <a:solidFill>
                            <a:srgbClr val="153C36"/>
                          </a:solidFill>
                          <a:latin typeface="Aptos"/>
                        </a:defRPr>
                      </a:pPr>
                      <a:r>
                        <a:t>85.08%</a:t>
                      </a:r>
                    </a:p>
                  </a:txBody>
                  <a:tcPr>
                    <a:solidFill>
                      <a:srgbClr val="FFFFFF"/>
                    </a:solidFill>
                  </a:tcPr>
                </a:tc>
                <a:tc>
                  <a:txBody>
                    <a:bodyPr/>
                    <a:lstStyle/>
                    <a:p>
                      <a:pPr>
                        <a:defRPr sz="1800" b="0">
                          <a:solidFill>
                            <a:srgbClr val="153C36"/>
                          </a:solidFill>
                          <a:latin typeface="Aptos"/>
                        </a:defRPr>
                      </a:pPr>
                      <a:r>
                        <a:t>All correct predictions</a:t>
                      </a:r>
                    </a:p>
                  </a:txBody>
                  <a:tcPr>
                    <a:solidFill>
                      <a:srgbClr val="FFFFFF"/>
                    </a:solidFill>
                  </a:tcPr>
                </a:tc>
              </a:tr>
              <a:tr h="512064">
                <a:tc>
                  <a:txBody>
                    <a:bodyPr/>
                    <a:lstStyle/>
                    <a:p>
                      <a:pPr>
                        <a:defRPr sz="1800" b="0">
                          <a:solidFill>
                            <a:srgbClr val="153C36"/>
                          </a:solidFill>
                          <a:latin typeface="Aptos"/>
                        </a:defRPr>
                      </a:pPr>
                      <a:r>
                        <a:t>Precision</a:t>
                      </a:r>
                    </a:p>
                  </a:txBody>
                  <a:tcPr>
                    <a:solidFill>
                      <a:srgbClr val="E2EEE8"/>
                    </a:solidFill>
                  </a:tcPr>
                </a:tc>
                <a:tc>
                  <a:txBody>
                    <a:bodyPr/>
                    <a:lstStyle/>
                    <a:p>
                      <a:pPr>
                        <a:defRPr sz="1800" b="0">
                          <a:solidFill>
                            <a:srgbClr val="153C36"/>
                          </a:solidFill>
                          <a:latin typeface="Aptos"/>
                        </a:defRPr>
                      </a:pPr>
                      <a:r>
                        <a:t>75.43%</a:t>
                      </a:r>
                    </a:p>
                  </a:txBody>
                  <a:tcPr>
                    <a:solidFill>
                      <a:srgbClr val="E2EEE8"/>
                    </a:solidFill>
                  </a:tcPr>
                </a:tc>
                <a:tc>
                  <a:txBody>
                    <a:bodyPr/>
                    <a:lstStyle/>
                    <a:p>
                      <a:pPr>
                        <a:defRPr sz="1800" b="0">
                          <a:solidFill>
                            <a:srgbClr val="153C36"/>
                          </a:solidFill>
                          <a:latin typeface="Aptos"/>
                        </a:defRPr>
                      </a:pPr>
                      <a:r>
                        <a:t>Correct cancellation alerts</a:t>
                      </a:r>
                    </a:p>
                  </a:txBody>
                  <a:tcPr>
                    <a:solidFill>
                      <a:srgbClr val="E2EEE8"/>
                    </a:solidFill>
                  </a:tcPr>
                </a:tc>
              </a:tr>
              <a:tr h="512064">
                <a:tc>
                  <a:txBody>
                    <a:bodyPr/>
                    <a:lstStyle/>
                    <a:p>
                      <a:pPr>
                        <a:defRPr sz="1800" b="0">
                          <a:solidFill>
                            <a:srgbClr val="153C36"/>
                          </a:solidFill>
                          <a:latin typeface="Aptos"/>
                        </a:defRPr>
                      </a:pPr>
                      <a:r>
                        <a:t>Recall</a:t>
                      </a:r>
                    </a:p>
                  </a:txBody>
                  <a:tcPr>
                    <a:solidFill>
                      <a:srgbClr val="FFFFFF"/>
                    </a:solidFill>
                  </a:tcPr>
                </a:tc>
                <a:tc>
                  <a:txBody>
                    <a:bodyPr/>
                    <a:lstStyle/>
                    <a:p>
                      <a:pPr>
                        <a:defRPr sz="1800" b="0">
                          <a:solidFill>
                            <a:srgbClr val="153C36"/>
                          </a:solidFill>
                          <a:latin typeface="Aptos"/>
                        </a:defRPr>
                      </a:pPr>
                      <a:r>
                        <a:t>67.80%</a:t>
                      </a:r>
                    </a:p>
                  </a:txBody>
                  <a:tcPr>
                    <a:solidFill>
                      <a:srgbClr val="FFFFFF"/>
                    </a:solidFill>
                  </a:tcPr>
                </a:tc>
                <a:tc>
                  <a:txBody>
                    <a:bodyPr/>
                    <a:lstStyle/>
                    <a:p>
                      <a:pPr>
                        <a:defRPr sz="1800" b="0">
                          <a:solidFill>
                            <a:srgbClr val="153C36"/>
                          </a:solidFill>
                          <a:latin typeface="Aptos"/>
                        </a:defRPr>
                      </a:pPr>
                      <a:r>
                        <a:t>Actual cancellations detected</a:t>
                      </a:r>
                    </a:p>
                  </a:txBody>
                  <a:tcPr>
                    <a:solidFill>
                      <a:srgbClr val="FFFFFF"/>
                    </a:solidFill>
                  </a:tcPr>
                </a:tc>
              </a:tr>
              <a:tr h="512064">
                <a:tc>
                  <a:txBody>
                    <a:bodyPr/>
                    <a:lstStyle/>
                    <a:p>
                      <a:pPr>
                        <a:defRPr sz="1800" b="0">
                          <a:solidFill>
                            <a:srgbClr val="153C36"/>
                          </a:solidFill>
                          <a:latin typeface="Aptos"/>
                        </a:defRPr>
                      </a:pPr>
                      <a:r>
                        <a:t>F1</a:t>
                      </a:r>
                    </a:p>
                  </a:txBody>
                  <a:tcPr>
                    <a:solidFill>
                      <a:srgbClr val="E2EEE8"/>
                    </a:solidFill>
                  </a:tcPr>
                </a:tc>
                <a:tc>
                  <a:txBody>
                    <a:bodyPr/>
                    <a:lstStyle/>
                    <a:p>
                      <a:pPr>
                        <a:defRPr sz="1800" b="0">
                          <a:solidFill>
                            <a:srgbClr val="153C36"/>
                          </a:solidFill>
                          <a:latin typeface="Aptos"/>
                        </a:defRPr>
                      </a:pPr>
                      <a:r>
                        <a:t>71.42%</a:t>
                      </a:r>
                    </a:p>
                  </a:txBody>
                  <a:tcPr>
                    <a:solidFill>
                      <a:srgbClr val="E2EEE8"/>
                    </a:solidFill>
                  </a:tcPr>
                </a:tc>
                <a:tc>
                  <a:txBody>
                    <a:bodyPr/>
                    <a:lstStyle/>
                    <a:p>
                      <a:pPr>
                        <a:defRPr sz="1800" b="0">
                          <a:solidFill>
                            <a:srgbClr val="153C36"/>
                          </a:solidFill>
                          <a:latin typeface="Aptos"/>
                        </a:defRPr>
                      </a:pPr>
                      <a:r>
                        <a:t>Precision–recall balance</a:t>
                      </a:r>
                    </a:p>
                  </a:txBody>
                  <a:tcPr>
                    <a:solidFill>
                      <a:srgbClr val="E2EEE8"/>
                    </a:solidFill>
                  </a:tcPr>
                </a:tc>
              </a:tr>
              <a:tr h="512064">
                <a:tc>
                  <a:txBody>
                    <a:bodyPr/>
                    <a:lstStyle/>
                    <a:p>
                      <a:pPr>
                        <a:defRPr sz="1800" b="0">
                          <a:solidFill>
                            <a:srgbClr val="153C36"/>
                          </a:solidFill>
                          <a:latin typeface="Aptos"/>
                        </a:defRPr>
                      </a:pPr>
                      <a:r>
                        <a:t>Balanced accuracy</a:t>
                      </a:r>
                    </a:p>
                  </a:txBody>
                  <a:tcPr>
                    <a:solidFill>
                      <a:srgbClr val="FFFFFF"/>
                    </a:solidFill>
                  </a:tcPr>
                </a:tc>
                <a:tc>
                  <a:txBody>
                    <a:bodyPr/>
                    <a:lstStyle/>
                    <a:p>
                      <a:pPr>
                        <a:defRPr sz="1800" b="0">
                          <a:solidFill>
                            <a:srgbClr val="153C36"/>
                          </a:solidFill>
                          <a:latin typeface="Aptos"/>
                        </a:defRPr>
                      </a:pPr>
                      <a:r>
                        <a:t>79.72%</a:t>
                      </a:r>
                    </a:p>
                  </a:txBody>
                  <a:tcPr>
                    <a:solidFill>
                      <a:srgbClr val="FFFFFF"/>
                    </a:solidFill>
                  </a:tcPr>
                </a:tc>
                <a:tc>
                  <a:txBody>
                    <a:bodyPr/>
                    <a:lstStyle/>
                    <a:p>
                      <a:pPr>
                        <a:defRPr sz="1800" b="0">
                          <a:solidFill>
                            <a:srgbClr val="153C36"/>
                          </a:solidFill>
                          <a:latin typeface="Aptos"/>
                        </a:defRPr>
                      </a:pPr>
                      <a:r>
                        <a:t>Average class recall</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The errors matter for hotel operations</a:t>
            </a:r>
          </a:p>
        </p:txBody>
      </p:sp>
      <p:sp>
        <p:nvSpPr>
          <p:cNvPr id="4" name="TextBox 3"/>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Kageepan  |  Model/new.ipynb · TEAM_VIVA_GUIDE.md</a:t>
            </a:r>
          </a:p>
        </p:txBody>
      </p:sp>
      <p:sp>
        <p:nvSpPr>
          <p:cNvPr id="5" name="TextBox 4"/>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14</a:t>
            </a:r>
          </a:p>
        </p:txBody>
      </p:sp>
      <p:graphicFrame>
        <p:nvGraphicFramePr>
          <p:cNvPr id="6" name="Table 5"/>
          <p:cNvGraphicFramePr>
            <a:graphicFrameLocks noGrp="1"/>
          </p:cNvGraphicFramePr>
          <p:nvPr/>
        </p:nvGraphicFramePr>
        <p:xfrm>
          <a:off x="731520" y="2148840"/>
          <a:ext cx="10744200" cy="1536192"/>
        </p:xfrm>
        <a:graphic>
          <a:graphicData uri="http://schemas.openxmlformats.org/drawingml/2006/table">
            <a:tbl>
              <a:tblPr firstRow="1" bandRow="1">
                <a:tableStyleId>{5C22544A-7EE6-4342-B048-85BDC9FD1C3A}</a:tableStyleId>
              </a:tblPr>
              <a:tblGrid>
                <a:gridCol w="3017520"/>
                <a:gridCol w="3840480"/>
                <a:gridCol w="3886200"/>
              </a:tblGrid>
              <a:tr h="512064">
                <a:tc>
                  <a:txBody>
                    <a:bodyPr/>
                    <a:lstStyle/>
                    <a:p>
                      <a:pPr>
                        <a:defRPr sz="1800" b="1">
                          <a:solidFill>
                            <a:srgbClr val="FFFFFF"/>
                          </a:solidFill>
                          <a:latin typeface="Aptos"/>
                        </a:defRPr>
                      </a:pPr>
                      <a:r>
                        <a:t>Actual outcome</a:t>
                      </a:r>
                    </a:p>
                  </a:txBody>
                  <a:tcPr>
                    <a:solidFill>
                      <a:srgbClr val="153C36"/>
                    </a:solidFill>
                  </a:tcPr>
                </a:tc>
                <a:tc>
                  <a:txBody>
                    <a:bodyPr/>
                    <a:lstStyle/>
                    <a:p>
                      <a:pPr>
                        <a:defRPr sz="1800" b="1">
                          <a:solidFill>
                            <a:srgbClr val="FFFFFF"/>
                          </a:solidFill>
                          <a:latin typeface="Aptos"/>
                        </a:defRPr>
                      </a:pPr>
                      <a:r>
                        <a:t>Predicted kept</a:t>
                      </a:r>
                    </a:p>
                  </a:txBody>
                  <a:tcPr>
                    <a:solidFill>
                      <a:srgbClr val="153C36"/>
                    </a:solidFill>
                  </a:tcPr>
                </a:tc>
                <a:tc>
                  <a:txBody>
                    <a:bodyPr/>
                    <a:lstStyle/>
                    <a:p>
                      <a:pPr>
                        <a:defRPr sz="1800" b="1">
                          <a:solidFill>
                            <a:srgbClr val="FFFFFF"/>
                          </a:solidFill>
                          <a:latin typeface="Aptos"/>
                        </a:defRPr>
                      </a:pPr>
                      <a:r>
                        <a:t>Predicted canceled</a:t>
                      </a:r>
                    </a:p>
                  </a:txBody>
                  <a:tcPr>
                    <a:solidFill>
                      <a:srgbClr val="153C36"/>
                    </a:solidFill>
                  </a:tcPr>
                </a:tc>
              </a:tr>
              <a:tr h="512064">
                <a:tc>
                  <a:txBody>
                    <a:bodyPr/>
                    <a:lstStyle/>
                    <a:p>
                      <a:pPr>
                        <a:defRPr sz="1800" b="0">
                          <a:solidFill>
                            <a:srgbClr val="153C36"/>
                          </a:solidFill>
                          <a:latin typeface="Aptos"/>
                        </a:defRPr>
                      </a:pPr>
                      <a:r>
                        <a:t>Kept</a:t>
                      </a:r>
                    </a:p>
                  </a:txBody>
                  <a:tcPr>
                    <a:solidFill>
                      <a:srgbClr val="E2EEE8"/>
                    </a:solidFill>
                  </a:tcPr>
                </a:tc>
                <a:tc>
                  <a:txBody>
                    <a:bodyPr/>
                    <a:lstStyle/>
                    <a:p>
                      <a:pPr>
                        <a:defRPr sz="1800" b="0">
                          <a:solidFill>
                            <a:srgbClr val="153C36"/>
                          </a:solidFill>
                          <a:latin typeface="Aptos"/>
                        </a:defRPr>
                      </a:pPr>
                      <a:r>
                        <a:t>11,614 · true negatives</a:t>
                      </a:r>
                    </a:p>
                  </a:txBody>
                  <a:tcPr>
                    <a:solidFill>
                      <a:srgbClr val="E2EEE8"/>
                    </a:solidFill>
                  </a:tcPr>
                </a:tc>
                <a:tc>
                  <a:txBody>
                    <a:bodyPr/>
                    <a:lstStyle/>
                    <a:p>
                      <a:pPr>
                        <a:defRPr sz="1800" b="0">
                          <a:solidFill>
                            <a:srgbClr val="153C36"/>
                          </a:solidFill>
                          <a:latin typeface="Aptos"/>
                        </a:defRPr>
                      </a:pPr>
                      <a:r>
                        <a:t>1,061 · false positives</a:t>
                      </a:r>
                    </a:p>
                  </a:txBody>
                  <a:tcPr>
                    <a:solidFill>
                      <a:srgbClr val="E2EEE8"/>
                    </a:solidFill>
                  </a:tcPr>
                </a:tc>
              </a:tr>
              <a:tr h="512064">
                <a:tc>
                  <a:txBody>
                    <a:bodyPr/>
                    <a:lstStyle/>
                    <a:p>
                      <a:pPr>
                        <a:defRPr sz="1800" b="0">
                          <a:solidFill>
                            <a:srgbClr val="153C36"/>
                          </a:solidFill>
                          <a:latin typeface="Aptos"/>
                        </a:defRPr>
                      </a:pPr>
                      <a:r>
                        <a:t>Canceled</a:t>
                      </a:r>
                    </a:p>
                  </a:txBody>
                  <a:tcPr>
                    <a:solidFill>
                      <a:srgbClr val="FFFFFF"/>
                    </a:solidFill>
                  </a:tcPr>
                </a:tc>
                <a:tc>
                  <a:txBody>
                    <a:bodyPr/>
                    <a:lstStyle/>
                    <a:p>
                      <a:pPr>
                        <a:defRPr sz="1800" b="0">
                          <a:solidFill>
                            <a:srgbClr val="153C36"/>
                          </a:solidFill>
                          <a:latin typeface="Aptos"/>
                        </a:defRPr>
                      </a:pPr>
                      <a:r>
                        <a:t>1,547 · false negatives</a:t>
                      </a:r>
                    </a:p>
                  </a:txBody>
                  <a:tcPr>
                    <a:solidFill>
                      <a:srgbClr val="FFFFFF"/>
                    </a:solidFill>
                  </a:tcPr>
                </a:tc>
                <a:tc>
                  <a:txBody>
                    <a:bodyPr/>
                    <a:lstStyle/>
                    <a:p>
                      <a:pPr>
                        <a:defRPr sz="1800" b="0">
                          <a:solidFill>
                            <a:srgbClr val="153C36"/>
                          </a:solidFill>
                          <a:latin typeface="Aptos"/>
                        </a:defRPr>
                      </a:pPr>
                      <a:r>
                        <a:t>3,258 · true positives</a:t>
                      </a:r>
                    </a:p>
                  </a:txBody>
                  <a:tcPr>
                    <a:solidFill>
                      <a:srgbClr val="FFFFFF"/>
                    </a:solidFill>
                  </a:tcPr>
                </a:tc>
              </a:tr>
            </a:tbl>
          </a:graphicData>
        </a:graphic>
      </p:graphicFrame>
      <p:sp>
        <p:nvSpPr>
          <p:cNvPr id="7" name="TextBox 6"/>
          <p:cNvSpPr txBox="1"/>
          <p:nvPr/>
        </p:nvSpPr>
        <p:spPr>
          <a:xfrm>
            <a:off x="777240" y="4251960"/>
            <a:ext cx="10515600" cy="1554480"/>
          </a:xfrm>
          <a:prstGeom prst="rect">
            <a:avLst/>
          </a:prstGeom>
          <a:noFill/>
        </p:spPr>
        <p:txBody>
          <a:bodyPr wrap="square">
            <a:spAutoFit/>
          </a:bodyPr>
          <a:lstStyle/>
          <a:p>
            <a:pPr>
              <a:spcAft>
                <a:spcPts val="1400"/>
              </a:spcAft>
              <a:defRPr sz="2200" b="0">
                <a:solidFill>
                  <a:srgbClr val="153C36"/>
                </a:solidFill>
                <a:latin typeface="Aptos"/>
              </a:defRPr>
            </a:pPr>
            <a:r>
              <a:t>1,547 cancellations missed | 1,061 unnecessary alerts</a:t>
            </a:r>
          </a:p>
          <a:p>
            <a:pPr>
              <a:spcAft>
                <a:spcPts val="1400"/>
              </a:spcAft>
              <a:defRPr sz="2200" b="0">
                <a:solidFill>
                  <a:srgbClr val="153C36"/>
                </a:solidFill>
                <a:latin typeface="Aptos"/>
              </a:defRPr>
            </a:pPr>
            <a:r>
              <a:t>Use risk estimates to prioritize courteous follow-up and occupancy review.</a:t>
            </a:r>
          </a:p>
          <a:p>
            <a:pPr>
              <a:spcAft>
                <a:spcPts val="1400"/>
              </a:spcAft>
              <a:defRPr sz="2200" b="0">
                <a:solidFill>
                  <a:srgbClr val="153C36"/>
                </a:solidFill>
                <a:latin typeface="Aptos"/>
              </a:defRPr>
            </a:pPr>
            <a:r>
              <a:t>Threshold 0.5 is not optimized for business costs.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Limits and the next modelling experiments</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Historical two-hotel data may differ from current local operations.</a:t>
            </a:r>
          </a:p>
          <a:p>
            <a:pPr>
              <a:spcAft>
                <a:spcPts val="1400"/>
              </a:spcAft>
              <a:defRPr sz="2300" b="0">
                <a:solidFill>
                  <a:srgbClr val="153C36"/>
                </a:solidFill>
                <a:latin typeface="Aptos"/>
              </a:defRPr>
            </a:pPr>
            <a:r>
              <a:t>Random split: future-period generalization remains untested.</a:t>
            </a:r>
          </a:p>
          <a:p>
            <a:pPr>
              <a:spcAft>
                <a:spcPts val="1400"/>
              </a:spcAft>
              <a:defRPr sz="2300" b="0">
                <a:solidFill>
                  <a:srgbClr val="153C36"/>
                </a:solidFill>
                <a:latin typeface="Aptos"/>
              </a:defRPr>
            </a:pPr>
            <a:r>
              <a:t>Assigned rooms and booking changes need a defined prediction time.</a:t>
            </a:r>
          </a:p>
          <a:p>
            <a:pPr>
              <a:spcAft>
                <a:spcPts val="1400"/>
              </a:spcAft>
              <a:defRPr sz="2300" b="0">
                <a:solidFill>
                  <a:srgbClr val="153C36"/>
                </a:solidFill>
                <a:latin typeface="Aptos"/>
              </a:defRPr>
            </a:pPr>
            <a:r>
              <a:t>Limited tuning; probabilities are not calibrated.</a:t>
            </a:r>
          </a:p>
          <a:p>
            <a:pPr>
              <a:spcAft>
                <a:spcPts val="1400"/>
              </a:spcAft>
              <a:defRPr sz="2300" b="0">
                <a:solidFill>
                  <a:srgbClr val="153C36"/>
                </a:solidFill>
                <a:latin typeface="Aptos"/>
              </a:defRPr>
            </a:pPr>
            <a:r>
              <a:t>Next: temporal/external validation, calibration and cost-based thresholds.</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Gowsika / Seyon  |  Model/new.ipynb · TEAM_VIVA_GUIDE.md</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Individual preparation and notebook evidence</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Subasthican: Logistic Regression, tuning, candidate comparison.</a:t>
            </a:r>
          </a:p>
          <a:p>
            <a:pPr>
              <a:spcAft>
                <a:spcPts val="1400"/>
              </a:spcAft>
              <a:defRPr sz="2300" b="0">
                <a:solidFill>
                  <a:srgbClr val="153C36"/>
                </a:solidFill>
                <a:latin typeface="Aptos"/>
              </a:defRPr>
            </a:pPr>
            <a:r>
              <a:t>Kageepan: Decision Tree, metrics and held-out error interpretation.</a:t>
            </a:r>
          </a:p>
          <a:p>
            <a:pPr>
              <a:spcAft>
                <a:spcPts val="1400"/>
              </a:spcAft>
              <a:defRPr sz="2300" b="0">
                <a:solidFill>
                  <a:srgbClr val="153C36"/>
                </a:solidFill>
                <a:latin typeface="Aptos"/>
              </a:defRPr>
            </a:pPr>
            <a:r>
              <a:t>Gowsika: Random Forest, tuning and feature ablation.</a:t>
            </a:r>
          </a:p>
          <a:p>
            <a:pPr>
              <a:spcAft>
                <a:spcPts val="1400"/>
              </a:spcAft>
              <a:defRPr sz="2300" b="0">
                <a:solidFill>
                  <a:srgbClr val="153C36"/>
                </a:solidFill>
                <a:latin typeface="Aptos"/>
              </a:defRPr>
            </a:pPr>
            <a:r>
              <a:t>Seyon: pipeline, split/CV, Extra Trees and artifact export.</a:t>
            </a:r>
          </a:p>
          <a:p>
            <a:pPr>
              <a:spcAft>
                <a:spcPts val="1400"/>
              </a:spcAft>
              <a:defRPr sz="2300" b="0">
                <a:solidFill>
                  <a:srgbClr val="153C36"/>
                </a:solidFill>
                <a:latin typeface="Aptos"/>
              </a:defRPr>
            </a:pPr>
            <a:r>
              <a:t>Each member: explain one decision, its evidence and its limitation.</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All members  |  Model/new.ipynb · TEAM_VIVA_GUIDE.md</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94360" y="320040"/>
            <a:ext cx="10972800" cy="365760"/>
          </a:xfrm>
          <a:prstGeom prst="rect">
            <a:avLst/>
          </a:prstGeom>
          <a:noFill/>
        </p:spPr>
        <p:txBody>
          <a:bodyPr wrap="square">
            <a:spAutoFit/>
          </a:bodyPr>
          <a:lstStyle/>
          <a:p>
            <a:pPr>
              <a:spcAft>
                <a:spcPts val="1400"/>
              </a:spcAft>
              <a:defRPr sz="1200" b="1">
                <a:solidFill>
                  <a:srgbClr val="19806B"/>
                </a:solidFill>
                <a:latin typeface="Aptos"/>
              </a:defRPr>
            </a:pPr>
            <a:r>
              <a:t>STAYWISE / PROGRESS EVALUATION 2 / IT3051</a:t>
            </a:r>
          </a:p>
        </p:txBody>
      </p:sp>
      <p:sp>
        <p:nvSpPr>
          <p:cNvPr id="3" name="TextBox 2"/>
          <p:cNvSpPr txBox="1"/>
          <p:nvPr/>
        </p:nvSpPr>
        <p:spPr>
          <a:xfrm>
            <a:off x="594360" y="914400"/>
            <a:ext cx="10972800" cy="1005840"/>
          </a:xfrm>
          <a:prstGeom prst="rect">
            <a:avLst/>
          </a:prstGeom>
          <a:noFill/>
        </p:spPr>
        <p:txBody>
          <a:bodyPr wrap="square">
            <a:spAutoFit/>
          </a:bodyPr>
          <a:lstStyle/>
          <a:p>
            <a:pPr>
              <a:spcAft>
                <a:spcPts val="1400"/>
              </a:spcAft>
              <a:defRPr sz="3400" b="1">
                <a:solidFill>
                  <a:srgbClr val="153C36"/>
                </a:solidFill>
                <a:latin typeface="Aptos"/>
              </a:defRPr>
            </a:pPr>
            <a:r>
              <a:t>Evidence and questions</a:t>
            </a:r>
          </a:p>
        </p:txBody>
      </p:sp>
      <p:sp>
        <p:nvSpPr>
          <p:cNvPr id="4" name="TextBox 3"/>
          <p:cNvSpPr txBox="1"/>
          <p:nvPr/>
        </p:nvSpPr>
        <p:spPr>
          <a:xfrm>
            <a:off x="731520" y="2148840"/>
            <a:ext cx="10789920" cy="3840480"/>
          </a:xfrm>
          <a:prstGeom prst="rect">
            <a:avLst/>
          </a:prstGeom>
          <a:noFill/>
        </p:spPr>
        <p:txBody>
          <a:bodyPr wrap="square">
            <a:spAutoFit/>
          </a:bodyPr>
          <a:lstStyle/>
          <a:p>
            <a:pPr>
              <a:spcAft>
                <a:spcPts val="1400"/>
              </a:spcAft>
              <a:defRPr sz="2300" b="0">
                <a:solidFill>
                  <a:srgbClr val="153C36"/>
                </a:solidFill>
                <a:latin typeface="Aptos"/>
              </a:defRPr>
            </a:pPr>
            <a:r>
              <a:t>Model/new.ipynb: baselines, searches, selection, ablation and test outputs.</a:t>
            </a:r>
          </a:p>
          <a:p>
            <a:pPr>
              <a:spcAft>
                <a:spcPts val="1400"/>
              </a:spcAft>
              <a:defRPr sz="2300" b="0">
                <a:solidFill>
                  <a:srgbClr val="153C36"/>
                </a:solidFill>
                <a:latin typeface="Aptos"/>
              </a:defRPr>
            </a:pPr>
            <a:r>
              <a:t>TEAM_VIVA_GUIDE.md: verified result tables and member preparation.</a:t>
            </a:r>
          </a:p>
          <a:p>
            <a:pPr>
              <a:spcAft>
                <a:spcPts val="1400"/>
              </a:spcAft>
              <a:defRPr sz="2300" b="0">
                <a:solidFill>
                  <a:srgbClr val="153C36"/>
                </a:solidFill>
                <a:latin typeface="Aptos"/>
              </a:defRPr>
            </a:pPr>
            <a:r>
              <a:t>Official assignment: Stage 8, Progress Evaluation 2 requirements.</a:t>
            </a:r>
          </a:p>
          <a:p>
            <a:pPr>
              <a:spcAft>
                <a:spcPts val="1400"/>
              </a:spcAft>
              <a:defRPr sz="2300" b="0">
                <a:solidFill>
                  <a:srgbClr val="153C36"/>
                </a:solidFill>
                <a:latin typeface="Aptos"/>
              </a:defRPr>
            </a:pPr>
            <a:r>
              <a:t>Dataset: Mostipak, Hotel Booking Demand, Kaggle.</a:t>
            </a:r>
          </a:p>
          <a:p>
            <a:pPr>
              <a:spcAft>
                <a:spcPts val="1400"/>
              </a:spcAft>
              <a:defRPr sz="2300" b="0">
                <a:solidFill>
                  <a:srgbClr val="153C36"/>
                </a:solidFill>
                <a:latin typeface="Aptos"/>
              </a:defRPr>
            </a:pPr>
            <a:r>
              <a:t>Original publication: Antonio, de Almeida &amp; Nunes (2019).</a:t>
            </a:r>
          </a:p>
          <a:p>
            <a:pPr>
              <a:spcAft>
                <a:spcPts val="1400"/>
              </a:spcAft>
              <a:defRPr sz="2300" b="0">
                <a:solidFill>
                  <a:srgbClr val="153C36"/>
                </a:solidFill>
                <a:latin typeface="Aptos"/>
              </a:defRPr>
            </a:pPr>
            <a:r>
              <a:t>DOI: 10.1016/j.dib.2018.11.126</a:t>
            </a:r>
          </a:p>
        </p:txBody>
      </p:sp>
      <p:sp>
        <p:nvSpPr>
          <p:cNvPr id="5" name="TextBox 4"/>
          <p:cNvSpPr txBox="1"/>
          <p:nvPr/>
        </p:nvSpPr>
        <p:spPr>
          <a:xfrm>
            <a:off x="594360" y="6245352"/>
            <a:ext cx="10698480" cy="320040"/>
          </a:xfrm>
          <a:prstGeom prst="rect">
            <a:avLst/>
          </a:prstGeom>
          <a:noFill/>
        </p:spPr>
        <p:txBody>
          <a:bodyPr wrap="square">
            <a:spAutoFit/>
          </a:bodyPr>
          <a:lstStyle/>
          <a:p>
            <a:pPr>
              <a:spcAft>
                <a:spcPts val="1400"/>
              </a:spcAft>
              <a:defRPr sz="1000" b="0">
                <a:solidFill>
                  <a:srgbClr val="536963"/>
                </a:solidFill>
                <a:latin typeface="Aptos"/>
              </a:defRPr>
            </a:pPr>
            <a:r>
              <a:t>All members  |  Local project evidence</a:t>
            </a:r>
          </a:p>
        </p:txBody>
      </p:sp>
      <p:sp>
        <p:nvSpPr>
          <p:cNvPr id="6" name="TextBox 5"/>
          <p:cNvSpPr txBox="1"/>
          <p:nvPr/>
        </p:nvSpPr>
        <p:spPr>
          <a:xfrm>
            <a:off x="11064240" y="6245352"/>
            <a:ext cx="548640" cy="320040"/>
          </a:xfrm>
          <a:prstGeom prst="rect">
            <a:avLst/>
          </a:prstGeom>
          <a:noFill/>
        </p:spPr>
        <p:txBody>
          <a:bodyPr wrap="square">
            <a:spAutoFit/>
          </a:bodyPr>
          <a:lstStyle/>
          <a:p>
            <a:pPr>
              <a:spcAft>
                <a:spcPts val="1400"/>
              </a:spcAft>
              <a:defRPr sz="1100" b="0">
                <a:solidFill>
                  <a:srgbClr val="19806B"/>
                </a:solidFill>
                <a:latin typeface="Aptos"/>
              </a:defRPr>
            </a:pPr>
            <a: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